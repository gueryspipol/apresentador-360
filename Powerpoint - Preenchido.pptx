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0" r:id="rId4"/>
  </p:sldMasterIdLst>
  <p:notesMasterIdLst>
    <p:notesMasterId r:id="rId37"/>
  </p:notesMasterIdLst>
  <p:sldIdLst>
    <p:sldId id="3064" r:id="rId5"/>
    <p:sldId id="3065" r:id="rId6"/>
    <p:sldId id="3066" r:id="rId7"/>
    <p:sldId id="257" r:id="rId8"/>
    <p:sldId id="259" r:id="rId9"/>
    <p:sldId id="3068" r:id="rId10"/>
    <p:sldId id="3069" r:id="rId11"/>
    <p:sldId id="261" r:id="rId12"/>
    <p:sldId id="260" r:id="rId13"/>
    <p:sldId id="264" r:id="rId14"/>
    <p:sldId id="262" r:id="rId15"/>
    <p:sldId id="323" r:id="rId16"/>
    <p:sldId id="327" r:id="rId17"/>
    <p:sldId id="3077" r:id="rId18"/>
    <p:sldId id="3084" r:id="rId19"/>
    <p:sldId id="3086" r:id="rId20"/>
    <p:sldId id="3087" r:id="rId21"/>
    <p:sldId id="295" r:id="rId22"/>
    <p:sldId id="3080" r:id="rId23"/>
    <p:sldId id="3094" r:id="rId24"/>
    <p:sldId id="3091" r:id="rId25"/>
    <p:sldId id="3095" r:id="rId26"/>
    <p:sldId id="3092" r:id="rId27"/>
    <p:sldId id="3096" r:id="rId28"/>
    <p:sldId id="3093" r:id="rId29"/>
    <p:sldId id="3097" r:id="rId30"/>
    <p:sldId id="3090" r:id="rId31"/>
    <p:sldId id="3098" r:id="rId32"/>
    <p:sldId id="3089" r:id="rId33"/>
    <p:sldId id="3099" r:id="rId34"/>
    <p:sldId id="350" r:id="rId35"/>
    <p:sldId id="3085" r:id="rId36"/>
  </p:sldIdLst>
  <p:sldSz cx="17557750" cy="9874250"/>
  <p:notesSz cx="6858000" cy="9144000"/>
  <p:embeddedFontLst>
    <p:embeddedFont>
      <p:font typeface="Atyp Display" panose="020B0604020202020204" charset="0"/>
      <p:regular r:id="rId38"/>
    </p:embeddedFont>
    <p:embeddedFont>
      <p:font typeface="Atyp Display Bold" panose="020B0604020202020204" charset="0"/>
      <p:bold r:id="rId39"/>
    </p:embeddedFont>
    <p:embeddedFont>
      <p:font typeface="ATYP DISPLAY LIGHT" panose="020B0604020202020204" charset="0"/>
      <p:regular r:id="rId40"/>
      <p:italic r:id="rId41"/>
    </p:embeddedFont>
    <p:embeddedFont>
      <p:font typeface="ATYP DISPLAY MEDIUM" panose="020B0604020202020204" charset="0"/>
      <p:regular r:id="rId42"/>
      <p:italic r:id="rId43"/>
    </p:embeddedFont>
    <p:embeddedFont>
      <p:font typeface="ATYP DISPLAY MEDIUM" panose="020B0604020202020204" charset="0"/>
      <p:regular r:id="rId42"/>
      <p:italic r:id="rId43"/>
    </p:embeddedFont>
    <p:embeddedFont>
      <p:font typeface="ATYP DISPLAY SEMIBOLD" panose="020B0604020202020204" charset="0"/>
      <p:regular r:id="rId44"/>
      <p:bold r:id="rId45"/>
      <p:italic r:id="rId46"/>
      <p:boldItalic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Calibri Light" panose="020F0302020204030204" pitchFamily="34" charset="0"/>
      <p:regular r:id="rId52"/>
      <p:italic r:id="rId53"/>
    </p:embeddedFont>
    <p:embeddedFont>
      <p:font typeface="Gobold Extra2" panose="020B0604020202020204" charset="0"/>
      <p:regular r:id="rId54"/>
      <p:italic r:id="rId55"/>
    </p:embeddedFont>
    <p:embeddedFont>
      <p:font typeface="Poppins Medium" panose="020B0604020202020204" charset="0"/>
      <p:regular r:id="rId56"/>
      <p:italic r:id="rId57"/>
    </p:embeddedFont>
    <p:embeddedFont>
      <p:font typeface="Webdings" panose="05030102010509060703" pitchFamily="18" charset="2"/>
      <p:regular r:id="rId5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0633" userDrawn="1">
          <p15:clr>
            <a:srgbClr val="A4A3A4"/>
          </p15:clr>
        </p15:guide>
        <p15:guide id="3" pos="178" userDrawn="1">
          <p15:clr>
            <a:srgbClr val="A4A3A4"/>
          </p15:clr>
        </p15:guide>
        <p15:guide id="5" orient="horz" pos="1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76D"/>
    <a:srgbClr val="0141B6"/>
    <a:srgbClr val="F2BA5A"/>
    <a:srgbClr val="FFFFFF"/>
    <a:srgbClr val="F6F6F6"/>
    <a:srgbClr val="B6B6B6"/>
    <a:srgbClr val="E3AD32"/>
    <a:srgbClr val="FABD01"/>
    <a:srgbClr val="ECB63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5" d="100"/>
          <a:sy n="55" d="100"/>
        </p:scale>
        <p:origin x="588" y="210"/>
      </p:cViewPr>
      <p:guideLst>
        <p:guide pos="10633"/>
        <p:guide pos="178"/>
        <p:guide orient="horz" pos="1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8" Type="http://schemas.openxmlformats.org/officeDocument/2006/relationships/slide" Target="slides/slide4.xml"/><Relationship Id="rId51" Type="http://schemas.openxmlformats.org/officeDocument/2006/relationships/font" Target="fonts/font1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miris Sampaio" userId="f1ea1fc9-dad7-425d-8947-9da5c36a290e" providerId="ADAL" clId="{155A6063-3813-464E-AB57-28F657A4B8BF}"/>
    <pc:docChg chg="modSld">
      <pc:chgData name="Thamiris Sampaio" userId="f1ea1fc9-dad7-425d-8947-9da5c36a290e" providerId="ADAL" clId="{155A6063-3813-464E-AB57-28F657A4B8BF}" dt="2026-07-15T12:31:35.807" v="7" actId="20577"/>
      <pc:docMkLst>
        <pc:docMk/>
      </pc:docMkLst>
      <pc:sldChg chg="modSp mod">
        <pc:chgData name="Thamiris Sampaio" userId="f1ea1fc9-dad7-425d-8947-9da5c36a290e" providerId="ADAL" clId="{155A6063-3813-464E-AB57-28F657A4B8BF}" dt="2026-07-15T12:31:31.568" v="3" actId="20577"/>
        <pc:sldMkLst>
          <pc:docMk/>
          <pc:sldMk cId="2781140281" sldId="3076"/>
        </pc:sldMkLst>
        <pc:spChg chg="mod">
          <ac:chgData name="Thamiris Sampaio" userId="f1ea1fc9-dad7-425d-8947-9da5c36a290e" providerId="ADAL" clId="{155A6063-3813-464E-AB57-28F657A4B8BF}" dt="2026-07-15T12:31:29.865" v="1" actId="20577"/>
          <ac:spMkLst>
            <pc:docMk/>
            <pc:sldMk cId="2781140281" sldId="3076"/>
            <ac:spMk id="11" creationId="{708B36A6-8133-F27C-9433-93C29D7D5837}"/>
          </ac:spMkLst>
        </pc:spChg>
        <pc:spChg chg="mod">
          <ac:chgData name="Thamiris Sampaio" userId="f1ea1fc9-dad7-425d-8947-9da5c36a290e" providerId="ADAL" clId="{155A6063-3813-464E-AB57-28F657A4B8BF}" dt="2026-07-15T12:31:31.568" v="3" actId="20577"/>
          <ac:spMkLst>
            <pc:docMk/>
            <pc:sldMk cId="2781140281" sldId="3076"/>
            <ac:spMk id="17" creationId="{6D35A2C0-5BFC-3F6C-D90D-C75FBE61F374}"/>
          </ac:spMkLst>
        </pc:spChg>
      </pc:sldChg>
      <pc:sldChg chg="modSp mod">
        <pc:chgData name="Thamiris Sampaio" userId="f1ea1fc9-dad7-425d-8947-9da5c36a290e" providerId="ADAL" clId="{155A6063-3813-464E-AB57-28F657A4B8BF}" dt="2026-07-15T12:31:35.807" v="7" actId="20577"/>
        <pc:sldMkLst>
          <pc:docMk/>
          <pc:sldMk cId="3353206192" sldId="3077"/>
        </pc:sldMkLst>
        <pc:spChg chg="mod">
          <ac:chgData name="Thamiris Sampaio" userId="f1ea1fc9-dad7-425d-8947-9da5c36a290e" providerId="ADAL" clId="{155A6063-3813-464E-AB57-28F657A4B8BF}" dt="2026-07-15T12:31:34.430" v="5" actId="20577"/>
          <ac:spMkLst>
            <pc:docMk/>
            <pc:sldMk cId="3353206192" sldId="3077"/>
            <ac:spMk id="75" creationId="{2D7DE679-84BA-CE99-CB78-A41A9F698811}"/>
          </ac:spMkLst>
        </pc:spChg>
        <pc:spChg chg="mod">
          <ac:chgData name="Thamiris Sampaio" userId="f1ea1fc9-dad7-425d-8947-9da5c36a290e" providerId="ADAL" clId="{155A6063-3813-464E-AB57-28F657A4B8BF}" dt="2026-07-15T12:31:35.807" v="7" actId="20577"/>
          <ac:spMkLst>
            <pc:docMk/>
            <pc:sldMk cId="3353206192" sldId="3077"/>
            <ac:spMk id="80" creationId="{EB4A83EF-400E-E64B-CFCF-EB41AA3D2D4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172.84.0.106\Cotacao\HMS%20Importa&#231;&#227;o_RD\2026\Sa&#250;de\Apresenta&#231;&#245;es\HMS%20Importa&#231;&#227;o_Apresenta&#231;&#227;o%20Sa&#250;de_2026_07_v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172.84.0.106\Cotacao\HMS%20Importa&#231;&#227;o_RD\2026\Sa&#250;de\Apresenta&#231;&#245;es\HMS%20Importa&#231;&#227;o_Apresenta&#231;&#227;o%20Sa&#250;de_2026_07_v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172.84.0.106\Cotacao\HMS%20Importa&#231;&#227;o_RD\2026\Sa&#250;de\Apresenta&#231;&#245;es\HMS%20Importa&#231;&#227;o_Apresenta&#231;&#227;o%20Sa&#250;de_2026_07_v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74-4EAE-AFAA-FDDE4312174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74-4EAE-AFAA-FDDE4312174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Elegibilidade!$A$6:$A$7</c:f>
              <c:strCache>
                <c:ptCount val="2"/>
                <c:pt idx="0">
                  <c:v>Funcionários</c:v>
                </c:pt>
                <c:pt idx="1">
                  <c:v>Dependentes</c:v>
                </c:pt>
              </c:strCache>
            </c:strRef>
          </c:cat>
          <c:val>
            <c:numRef>
              <c:f>Elegibilidade!$B$6:$B$7</c:f>
              <c:numCache>
                <c:formatCode>General</c:formatCode>
                <c:ptCount val="2"/>
                <c:pt idx="0">
                  <c:v>28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74-4EAE-AFAA-FDDE4312174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'Faixa Etária'!$B$1</c:f>
              <c:strCache>
                <c:ptCount val="1"/>
                <c:pt idx="0">
                  <c:v>FUNCIONÁRIOS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'Faixa Etária'!$A$2:$A$11</c:f>
              <c:strCache>
                <c:ptCount val="10"/>
                <c:pt idx="0">
                  <c:v>00 - 18</c:v>
                </c:pt>
                <c:pt idx="1">
                  <c:v>19 - 23</c:v>
                </c:pt>
                <c:pt idx="2">
                  <c:v>24 - 28</c:v>
                </c:pt>
                <c:pt idx="3">
                  <c:v>29 - 33</c:v>
                </c:pt>
                <c:pt idx="4">
                  <c:v>34 - 38</c:v>
                </c:pt>
                <c:pt idx="5">
                  <c:v>39 - 43</c:v>
                </c:pt>
                <c:pt idx="6">
                  <c:v>44 - 48</c:v>
                </c:pt>
                <c:pt idx="7">
                  <c:v>49 - 53</c:v>
                </c:pt>
                <c:pt idx="8">
                  <c:v>54 - 58</c:v>
                </c:pt>
                <c:pt idx="9">
                  <c:v>59+</c:v>
                </c:pt>
              </c:strCache>
            </c:strRef>
          </c:cat>
          <c:val>
            <c:numRef>
              <c:f>'Faixa Etária'!$B$2:$B$11</c:f>
              <c:numCache>
                <c:formatCode>General</c:formatCode>
                <c:ptCount val="10"/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5</c:v>
                </c:pt>
                <c:pt idx="6">
                  <c:v>7</c:v>
                </c:pt>
                <c:pt idx="7">
                  <c:v>2</c:v>
                </c:pt>
                <c:pt idx="8">
                  <c:v>5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30-4E39-A8D1-6E5F5118DB0D}"/>
            </c:ext>
          </c:extLst>
        </c:ser>
        <c:ser>
          <c:idx val="1"/>
          <c:order val="1"/>
          <c:tx>
            <c:strRef>
              <c:f>'Faixa Etária'!$C$1</c:f>
              <c:strCache>
                <c:ptCount val="1"/>
                <c:pt idx="0">
                  <c:v>DEPENDENTES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'Faixa Etária'!$A$2:$A$11</c:f>
              <c:strCache>
                <c:ptCount val="10"/>
                <c:pt idx="0">
                  <c:v>00 - 18</c:v>
                </c:pt>
                <c:pt idx="1">
                  <c:v>19 - 23</c:v>
                </c:pt>
                <c:pt idx="2">
                  <c:v>24 - 28</c:v>
                </c:pt>
                <c:pt idx="3">
                  <c:v>29 - 33</c:v>
                </c:pt>
                <c:pt idx="4">
                  <c:v>34 - 38</c:v>
                </c:pt>
                <c:pt idx="5">
                  <c:v>39 - 43</c:v>
                </c:pt>
                <c:pt idx="6">
                  <c:v>44 - 48</c:v>
                </c:pt>
                <c:pt idx="7">
                  <c:v>49 - 53</c:v>
                </c:pt>
                <c:pt idx="8">
                  <c:v>54 - 58</c:v>
                </c:pt>
                <c:pt idx="9">
                  <c:v>59+</c:v>
                </c:pt>
              </c:strCache>
            </c:strRef>
          </c:cat>
          <c:val>
            <c:numRef>
              <c:f>'Faixa Etária'!$C$2:$C$11</c:f>
              <c:numCache>
                <c:formatCode>General</c:formatCode>
                <c:ptCount val="10"/>
                <c:pt idx="0">
                  <c:v>3</c:v>
                </c:pt>
                <c:pt idx="1">
                  <c:v>1</c:v>
                </c:pt>
                <c:pt idx="7">
                  <c:v>1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30-4E39-A8D1-6E5F5118DB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32770352"/>
        <c:axId val="532782000"/>
      </c:barChart>
      <c:catAx>
        <c:axId val="53277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32782000"/>
        <c:crosses val="autoZero"/>
        <c:auto val="1"/>
        <c:lblAlgn val="ctr"/>
        <c:lblOffset val="100"/>
        <c:noMultiLvlLbl val="0"/>
      </c:catAx>
      <c:valAx>
        <c:axId val="532782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3277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294-4B5E-9B08-776876FF0C7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294-4B5E-9B08-776876FF0C7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294-4B5E-9B08-776876FF0C7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294-4B5E-9B08-776876FF0C7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'Produtos Atuais'!$A$2:$A$11</c:f>
              <c:strCache>
                <c:ptCount val="4"/>
                <c:pt idx="0">
                  <c:v>Bronze E</c:v>
                </c:pt>
                <c:pt idx="1">
                  <c:v>Prata E</c:v>
                </c:pt>
                <c:pt idx="2">
                  <c:v>Ouro A</c:v>
                </c:pt>
                <c:pt idx="3">
                  <c:v>Diamante A</c:v>
                </c:pt>
              </c:strCache>
            </c:strRef>
          </c:cat>
          <c:val>
            <c:numRef>
              <c:f>'Produtos Atuais'!$B$2:$B$11</c:f>
              <c:numCache>
                <c:formatCode>General</c:formatCode>
                <c:ptCount val="4"/>
                <c:pt idx="0">
                  <c:v>9</c:v>
                </c:pt>
                <c:pt idx="1">
                  <c:v>22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94-4B5E-9B08-776876FF0C7B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4294-4B5E-9B08-776876FF0C7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4294-4B5E-9B08-776876FF0C7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4294-4B5E-9B08-776876FF0C7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4294-4B5E-9B08-776876FF0C7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'Produtos Atuais'!$A$2:$A$11</c:f>
              <c:strCache>
                <c:ptCount val="4"/>
                <c:pt idx="0">
                  <c:v>Bronze E</c:v>
                </c:pt>
                <c:pt idx="1">
                  <c:v>Prata E</c:v>
                </c:pt>
                <c:pt idx="2">
                  <c:v>Ouro A</c:v>
                </c:pt>
                <c:pt idx="3">
                  <c:v>Diamante A</c:v>
                </c:pt>
              </c:strCache>
            </c:strRef>
          </c:cat>
          <c:val>
            <c:numRef>
              <c:f>'Produtos Atuais'!$C$2:$C$11</c:f>
              <c:numCache>
                <c:formatCode>0%</c:formatCode>
                <c:ptCount val="4"/>
                <c:pt idx="0">
                  <c:v>0.25714285714285712</c:v>
                </c:pt>
                <c:pt idx="1">
                  <c:v>0.62857142857142856</c:v>
                </c:pt>
                <c:pt idx="2">
                  <c:v>2.8571428571428571E-2</c:v>
                </c:pt>
                <c:pt idx="3">
                  <c:v>8.5714285714285715E-2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294-4B5E-9B08-776876FF0C7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B3E81-D443-4454-9DAD-586908521CF4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F2B2E-AEC3-43C4-B866-C248E7D04D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35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65836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131673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97510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2633472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3291840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3950208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4608576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5266944" algn="l" defTabSz="1316736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be632c16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be632c16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41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52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618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E6E62-5D2C-BB8A-BBDC-9D9D958FE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FE621B-F4A0-3B71-E5F1-0BF2D4DF7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5FA8B1-0E5C-3B7F-AF53-172A5FCA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96D58-CB29-4E46-8441-16918C1AD36C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05EE4C-55CF-BC8B-C15A-55AB2AFC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5B67D0-51DE-0537-D695-2880FC11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AA77C-E862-7F4A-8CBC-7AFB635D70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79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932B6-B163-49EB-A2C6-68D320AB3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4719" y="1615995"/>
            <a:ext cx="13168313" cy="3437702"/>
          </a:xfrm>
        </p:spPr>
        <p:txBody>
          <a:bodyPr anchor="b"/>
          <a:lstStyle>
            <a:lvl1pPr algn="ctr">
              <a:defRPr sz="8639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4F5791-EF3B-421F-80C5-506F9BC31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4719" y="5186268"/>
            <a:ext cx="13168313" cy="2383991"/>
          </a:xfrm>
        </p:spPr>
        <p:txBody>
          <a:bodyPr/>
          <a:lstStyle>
            <a:lvl1pPr marL="0" indent="0" algn="ctr">
              <a:buNone/>
              <a:defRPr sz="3456"/>
            </a:lvl1pPr>
            <a:lvl2pPr marL="658277" indent="0" algn="ctr">
              <a:buNone/>
              <a:defRPr sz="2880"/>
            </a:lvl2pPr>
            <a:lvl3pPr marL="1316553" indent="0" algn="ctr">
              <a:buNone/>
              <a:defRPr sz="2592"/>
            </a:lvl3pPr>
            <a:lvl4pPr marL="1974830" indent="0" algn="ctr">
              <a:buNone/>
              <a:defRPr sz="2304"/>
            </a:lvl4pPr>
            <a:lvl5pPr marL="2633106" indent="0" algn="ctr">
              <a:buNone/>
              <a:defRPr sz="2304"/>
            </a:lvl5pPr>
            <a:lvl6pPr marL="3291383" indent="0" algn="ctr">
              <a:buNone/>
              <a:defRPr sz="2304"/>
            </a:lvl6pPr>
            <a:lvl7pPr marL="3949659" indent="0" algn="ctr">
              <a:buNone/>
              <a:defRPr sz="2304"/>
            </a:lvl7pPr>
            <a:lvl8pPr marL="4607936" indent="0" algn="ctr">
              <a:buNone/>
              <a:defRPr sz="2304"/>
            </a:lvl8pPr>
            <a:lvl9pPr marL="5266212" indent="0" algn="ctr">
              <a:buNone/>
              <a:defRPr sz="2304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84DE91-CBD8-4020-A6A8-23686FA9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2B1F6-3F92-4BE3-92FC-069A64610289}" type="datetimeFigureOut">
              <a:rPr lang="pt-BR" smtClean="0"/>
              <a:t>24/07/2026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9574D4-DC9E-4BEC-8743-84229B42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A3A703-5CBD-4E1D-9921-F6EB416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D05AE-8A73-464A-9036-1FEBD56284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98508" y="854338"/>
            <a:ext cx="16360735" cy="10994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98508" y="2212468"/>
            <a:ext cx="16360735" cy="65586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877733" lvl="0" indent="-65829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755465" lvl="1" indent="-60953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633198" lvl="2" indent="-60953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510930" lvl="3" indent="-60953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388663" lvl="4" indent="-60953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5266395" lvl="5" indent="-60953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6144128" lvl="6" indent="-60953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7021860" lvl="7" indent="-60953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7899593" lvl="8" indent="-60953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6268296" y="8952225"/>
            <a:ext cx="1053580" cy="7556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pt-BR" smtClean="0"/>
              <a:pPr algn="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20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79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4" r:id="rId2"/>
    <p:sldLayoutId id="2147483717" r:id="rId3"/>
    <p:sldLayoutId id="2147483724" r:id="rId4"/>
    <p:sldLayoutId id="2147483725" r:id="rId5"/>
    <p:sldLayoutId id="2147483726" r:id="rId6"/>
  </p:sldLayoutIdLst>
  <p:hf hdr="0" ftr="0" dt="0"/>
  <p:txStyles>
    <p:titleStyle>
      <a:lvl1pPr algn="l" defTabSz="1316553" rtl="0" eaLnBrk="1" latinLnBrk="0" hangingPunct="1">
        <a:lnSpc>
          <a:spcPct val="90000"/>
        </a:lnSpc>
        <a:spcBef>
          <a:spcPct val="0"/>
        </a:spcBef>
        <a:buNone/>
        <a:defRPr sz="63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9138" indent="-329138" algn="l" defTabSz="1316553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4031" kern="1200">
          <a:solidFill>
            <a:schemeClr val="tx1"/>
          </a:solidFill>
          <a:latin typeface="+mn-lt"/>
          <a:ea typeface="+mn-ea"/>
          <a:cs typeface="+mn-cs"/>
        </a:defRPr>
      </a:lvl1pPr>
      <a:lvl2pPr marL="987415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3456" kern="1200">
          <a:solidFill>
            <a:schemeClr val="tx1"/>
          </a:solidFill>
          <a:latin typeface="+mn-lt"/>
          <a:ea typeface="+mn-ea"/>
          <a:cs typeface="+mn-cs"/>
        </a:defRPr>
      </a:lvl2pPr>
      <a:lvl3pPr marL="1645691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303968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4pPr>
      <a:lvl5pPr marL="2962245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5pPr>
      <a:lvl6pPr marL="3620521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6pPr>
      <a:lvl7pPr marL="4278798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7pPr>
      <a:lvl8pPr marL="4937074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8pPr>
      <a:lvl9pPr marL="5595351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1pPr>
      <a:lvl2pPr marL="658277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316553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3pPr>
      <a:lvl4pPr marL="1974830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4pPr>
      <a:lvl5pPr marL="2633106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5pPr>
      <a:lvl6pPr marL="3291383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6pPr>
      <a:lvl7pPr marL="3949659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7pPr>
      <a:lvl8pPr marL="4607936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8pPr>
      <a:lvl9pPr marL="5266212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10" Type="http://schemas.openxmlformats.org/officeDocument/2006/relationships/image" Target="../media/image12.emf"/><Relationship Id="rId4" Type="http://schemas.openxmlformats.org/officeDocument/2006/relationships/image" Target="../media/image6.emf"/><Relationship Id="rId9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1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chart" Target="../charts/chart3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40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rcRect/>
          <a:stretch/>
        </p:blipFill>
        <p:spPr>
          <a:xfrm>
            <a:off x="1766" y="1"/>
            <a:ext cx="17554218" cy="9874248"/>
          </a:xfrm>
          <a:prstGeom prst="rect">
            <a:avLst/>
          </a:prstGeom>
        </p:spPr>
      </p:pic>
      <p:pic>
        <p:nvPicPr>
          <p:cNvPr id="5" name="Imagem 4" descr="Logotipo, nome da empresa&#10;&#10;Descrição gerada automaticamente">
            <a:extLst>
              <a:ext uri="{FF2B5EF4-FFF2-40B4-BE49-F238E27FC236}">
                <a16:creationId xmlns:a16="http://schemas.microsoft.com/office/drawing/2014/main" id="{B6927C25-63AC-E439-1B05-ED9CB1434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65" y="1240155"/>
            <a:ext cx="2115074" cy="71400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049424F-4D89-8873-45AD-04036D9CFADC}"/>
              </a:ext>
            </a:extLst>
          </p:cNvPr>
          <p:cNvSpPr txBox="1"/>
          <p:nvPr/>
        </p:nvSpPr>
        <p:spPr>
          <a:xfrm>
            <a:off x="971552" y="3194315"/>
            <a:ext cx="4844275" cy="9014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6000" spc="-15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Contar com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CB53F69-ADA8-DA89-B5AB-167C9E9E5875}"/>
              </a:ext>
            </a:extLst>
          </p:cNvPr>
          <p:cNvSpPr txBox="1"/>
          <p:nvPr/>
        </p:nvSpPr>
        <p:spPr>
          <a:xfrm>
            <a:off x="1643065" y="3859478"/>
            <a:ext cx="4844275" cy="1014497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Autofit/>
          </a:bodyPr>
          <a:lstStyle/>
          <a:p>
            <a:r>
              <a:rPr lang="pt-BR" sz="9600" spc="-150" err="1">
                <a:solidFill>
                  <a:srgbClr val="FFC000"/>
                </a:solidFill>
                <a:latin typeface="Atyp Display" pitchFamily="2" charset="0"/>
                <a:ea typeface="Atyp Display" pitchFamily="2" charset="0"/>
              </a:rPr>
              <a:t>aggrega</a:t>
            </a:r>
            <a:endParaRPr lang="pt-BR" sz="9600" spc="-150">
              <a:solidFill>
                <a:srgbClr val="FFC000"/>
              </a:solidFill>
              <a:latin typeface="Atyp Display" pitchFamily="2" charset="0"/>
              <a:ea typeface="Atyp Display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A07AF3B-88A7-0921-19E1-9B0B88A2DAF5}"/>
              </a:ext>
            </a:extLst>
          </p:cNvPr>
          <p:cNvSpPr txBox="1"/>
          <p:nvPr/>
        </p:nvSpPr>
        <p:spPr>
          <a:xfrm>
            <a:off x="1485902" y="4912193"/>
            <a:ext cx="5943598" cy="9014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6000" spc="-15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faz mais sentido!</a:t>
            </a:r>
          </a:p>
        </p:txBody>
      </p:sp>
      <p:cxnSp>
        <p:nvCxnSpPr>
          <p:cNvPr id="3" name="Conector reto 13">
            <a:extLst>
              <a:ext uri="{FF2B5EF4-FFF2-40B4-BE49-F238E27FC236}">
                <a16:creationId xmlns:a16="http://schemas.microsoft.com/office/drawing/2014/main" id="{98C34436-707A-6425-F668-42F92EC4D561}"/>
              </a:ext>
            </a:extLst>
          </p:cNvPr>
          <p:cNvCxnSpPr>
            <a:cxnSpLocks/>
          </p:cNvCxnSpPr>
          <p:nvPr/>
        </p:nvCxnSpPr>
        <p:spPr>
          <a:xfrm flipH="1">
            <a:off x="1169616" y="8554814"/>
            <a:ext cx="6945684" cy="0"/>
          </a:xfrm>
          <a:prstGeom prst="line">
            <a:avLst/>
          </a:prstGeom>
          <a:ln w="57150" cap="rnd">
            <a:solidFill>
              <a:srgbClr val="FAB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14">
            <a:extLst>
              <a:ext uri="{FF2B5EF4-FFF2-40B4-BE49-F238E27FC236}">
                <a16:creationId xmlns:a16="http://schemas.microsoft.com/office/drawing/2014/main" id="{A715F961-F7F1-9027-5C0D-76C54D6A4FCC}"/>
              </a:ext>
            </a:extLst>
          </p:cNvPr>
          <p:cNvCxnSpPr>
            <a:cxnSpLocks/>
          </p:cNvCxnSpPr>
          <p:nvPr/>
        </p:nvCxnSpPr>
        <p:spPr>
          <a:xfrm>
            <a:off x="1169616" y="6879580"/>
            <a:ext cx="0" cy="1656184"/>
          </a:xfrm>
          <a:prstGeom prst="line">
            <a:avLst/>
          </a:prstGeom>
          <a:ln w="57150">
            <a:solidFill>
              <a:srgbClr val="FAB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5">
            <a:extLst>
              <a:ext uri="{FF2B5EF4-FFF2-40B4-BE49-F238E27FC236}">
                <a16:creationId xmlns:a16="http://schemas.microsoft.com/office/drawing/2014/main" id="{E9E65443-3E14-7BFF-E0AC-5B9A657F4962}"/>
              </a:ext>
            </a:extLst>
          </p:cNvPr>
          <p:cNvCxnSpPr>
            <a:cxnSpLocks/>
          </p:cNvCxnSpPr>
          <p:nvPr/>
        </p:nvCxnSpPr>
        <p:spPr>
          <a:xfrm flipH="1">
            <a:off x="1169616" y="6884518"/>
            <a:ext cx="7479084" cy="0"/>
          </a:xfrm>
          <a:prstGeom prst="line">
            <a:avLst/>
          </a:prstGeom>
          <a:ln w="57150" cap="rnd">
            <a:solidFill>
              <a:srgbClr val="FAB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F704DE8-4D91-150B-2833-9C9BB1C04A35}"/>
              </a:ext>
            </a:extLst>
          </p:cNvPr>
          <p:cNvSpPr txBox="1"/>
          <p:nvPr/>
        </p:nvSpPr>
        <p:spPr>
          <a:xfrm>
            <a:off x="1591412" y="7344928"/>
            <a:ext cx="62993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HMS Importação</a:t>
            </a:r>
          </a:p>
        </p:txBody>
      </p:sp>
      <p:pic>
        <p:nvPicPr>
          <p:cNvPr id="13" name="Imagem 12" descr="Mulher com terno e gravata&#10;&#10;Descrição gerada automaticamente">
            <a:extLst>
              <a:ext uri="{FF2B5EF4-FFF2-40B4-BE49-F238E27FC236}">
                <a16:creationId xmlns:a16="http://schemas.microsoft.com/office/drawing/2014/main" id="{311882E4-7699-4C90-AD99-578B8954E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720" y="393701"/>
            <a:ext cx="8996128" cy="1019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5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rcRect/>
          <a:stretch/>
        </p:blipFill>
        <p:spPr>
          <a:xfrm>
            <a:off x="1765" y="1"/>
            <a:ext cx="17554220" cy="98742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65F5745-AC7E-14ED-6158-D6197C32BDBA}"/>
              </a:ext>
            </a:extLst>
          </p:cNvPr>
          <p:cNvSpPr txBox="1"/>
          <p:nvPr/>
        </p:nvSpPr>
        <p:spPr>
          <a:xfrm>
            <a:off x="3019808" y="2562035"/>
            <a:ext cx="2923792" cy="6932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>
                <a:solidFill>
                  <a:srgbClr val="FFFFFF"/>
                </a:solidFill>
                <a:latin typeface="Atyp Display" pitchFamily="2" charset="0"/>
                <a:ea typeface="Atyp Display" pitchFamily="2" charset="0"/>
              </a:rPr>
              <a:t>Desenhos</a:t>
            </a:r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 de projetos eficientes e disruptivos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DAC859-6D84-D60F-878C-33B2F0602A8C}"/>
              </a:ext>
            </a:extLst>
          </p:cNvPr>
          <p:cNvSpPr txBox="1"/>
          <p:nvPr/>
        </p:nvSpPr>
        <p:spPr>
          <a:xfrm>
            <a:off x="3036965" y="3881333"/>
            <a:ext cx="2923792" cy="113385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Indicadores: Medicina por capacidade de antecipar ocorrências e alto impacto no sinistro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81BD8D-0CE0-5E1C-DFA3-CB5259F39AC9}"/>
              </a:ext>
            </a:extLst>
          </p:cNvPr>
          <p:cNvSpPr txBox="1"/>
          <p:nvPr/>
        </p:nvSpPr>
        <p:spPr>
          <a:xfrm>
            <a:off x="3036965" y="5635710"/>
            <a:ext cx="2923792" cy="90525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Operadores: Estrutura médica de referência para melhor gestão do sinistro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2C3ADA-1B26-8500-B9EB-5294B44D7B29}"/>
              </a:ext>
            </a:extLst>
          </p:cNvPr>
          <p:cNvSpPr txBox="1"/>
          <p:nvPr/>
        </p:nvSpPr>
        <p:spPr>
          <a:xfrm>
            <a:off x="3036965" y="7032649"/>
            <a:ext cx="2780917" cy="17316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Telemedicina </a:t>
            </a:r>
            <a:r>
              <a:rPr lang="pt-BR" err="1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: Conveniência para o usuário e dados para melhor tomada de decisão no direcionamento assistencial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7ACDD8-9E19-0411-A5ED-9F47DDE4DA7D}"/>
              </a:ext>
            </a:extLst>
          </p:cNvPr>
          <p:cNvSpPr txBox="1"/>
          <p:nvPr/>
        </p:nvSpPr>
        <p:spPr>
          <a:xfrm>
            <a:off x="13063921" y="2562035"/>
            <a:ext cx="2923792" cy="6932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Portal do colaborador desonerando atividades operacionais do RH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822A91-A877-E0D5-CCD5-8058B142208E}"/>
              </a:ext>
            </a:extLst>
          </p:cNvPr>
          <p:cNvSpPr txBox="1"/>
          <p:nvPr/>
        </p:nvSpPr>
        <p:spPr>
          <a:xfrm>
            <a:off x="13063921" y="3855040"/>
            <a:ext cx="2923792" cy="113385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Rede </a:t>
            </a:r>
            <a:r>
              <a:rPr lang="pt-BR" err="1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: Clube de parceiros de custo mais equilibrado e desfechos eficientes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B5F1A4F-3435-6C73-1C77-616480B9DFE9}"/>
              </a:ext>
            </a:extLst>
          </p:cNvPr>
          <p:cNvSpPr txBox="1"/>
          <p:nvPr/>
        </p:nvSpPr>
        <p:spPr>
          <a:xfrm>
            <a:off x="13063921" y="5566694"/>
            <a:ext cx="2923792" cy="90525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err="1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ISC</a:t>
            </a:r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: Índice de Saúde Corporativa evolução do BIG DATA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C0B0361-C716-F3D7-E607-EDC8C76448F7}"/>
              </a:ext>
            </a:extLst>
          </p:cNvPr>
          <p:cNvSpPr txBox="1"/>
          <p:nvPr/>
        </p:nvSpPr>
        <p:spPr>
          <a:xfrm>
            <a:off x="13063921" y="7049749"/>
            <a:ext cx="2780917" cy="17316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err="1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GSA</a:t>
            </a:r>
            <a:r>
              <a:rPr lang="pt-BR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: Programas de qualidade de vida centrado no usuário: bem estar e aculturamento corporativo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C51023F-1F3A-4829-0EEA-C473E97FE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564" y="2499405"/>
            <a:ext cx="625044" cy="69323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4E3E994-DD93-C20F-0C27-2B76E7D36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722" y="3871282"/>
            <a:ext cx="693230" cy="69323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B47F3EB-7957-AAE5-49F6-2AAE96FA9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721" y="5660772"/>
            <a:ext cx="693230" cy="69323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B1C8732-3829-FEDF-A115-27AD36F89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564" y="7167313"/>
            <a:ext cx="740523" cy="675874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8CC40DC-D638-BB24-5DB3-47D45A7377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7531" y="2564685"/>
            <a:ext cx="712558" cy="71255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C391A0F-1335-870C-B7C8-72C5D1828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77531" y="3930740"/>
            <a:ext cx="712559" cy="71255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8CC0E50-E790-BD43-B711-0B78896FC8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77531" y="5566694"/>
            <a:ext cx="712558" cy="71255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D53F605-AEB6-EA81-BF1C-D21C756921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14570" y="7124832"/>
            <a:ext cx="854348" cy="68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60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rcRect/>
          <a:stretch/>
        </p:blipFill>
        <p:spPr>
          <a:xfrm>
            <a:off x="1765" y="1"/>
            <a:ext cx="17554220" cy="987424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EF2197C-D5C5-AF95-85CA-6001AC6CA422}"/>
              </a:ext>
            </a:extLst>
          </p:cNvPr>
          <p:cNvSpPr txBox="1"/>
          <p:nvPr/>
        </p:nvSpPr>
        <p:spPr>
          <a:xfrm>
            <a:off x="957265" y="601265"/>
            <a:ext cx="6732690" cy="88778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5400" spc="600">
                <a:solidFill>
                  <a:schemeClr val="bg1"/>
                </a:solidFill>
                <a:latin typeface="Gobold Extra2" panose="02000500000000000000" pitchFamily="2" charset="0"/>
                <a:ea typeface="Atyp Display" pitchFamily="2" charset="0"/>
              </a:rPr>
              <a:t>NOSSOS SERVIÇOS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4349C35-2657-7024-3F7D-D38E7E95BB06}"/>
              </a:ext>
            </a:extLst>
          </p:cNvPr>
          <p:cNvSpPr txBox="1"/>
          <p:nvPr/>
        </p:nvSpPr>
        <p:spPr>
          <a:xfrm>
            <a:off x="985840" y="2032867"/>
            <a:ext cx="7415211" cy="25751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2000">
                <a:solidFill>
                  <a:schemeClr val="bg2">
                    <a:lumMod val="25000"/>
                  </a:schemeClr>
                </a:solidFill>
                <a:latin typeface="Atyp Display" pitchFamily="2" charset="0"/>
                <a:ea typeface="Atyp Display" pitchFamily="2" charset="0"/>
              </a:rPr>
              <a:t>Na </a:t>
            </a:r>
            <a:r>
              <a:rPr lang="pt-BR" sz="2000" err="1">
                <a:solidFill>
                  <a:schemeClr val="bg2">
                    <a:lumMod val="25000"/>
                  </a:schemeClr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 sz="2000">
                <a:solidFill>
                  <a:schemeClr val="bg2">
                    <a:lumMod val="25000"/>
                  </a:schemeClr>
                </a:solidFill>
                <a:latin typeface="Atyp Display" pitchFamily="2" charset="0"/>
                <a:ea typeface="Atyp Display" pitchFamily="2" charset="0"/>
              </a:rPr>
              <a:t>, pessoas, processos e tecnologias são vocacionadas dentro de nossa metodologia que busca produzir melhor, com redução de recursos e tempo, incorporando mais valor ao cliente. </a:t>
            </a:r>
          </a:p>
          <a:p>
            <a:endParaRPr lang="pt-BR" sz="2000">
              <a:solidFill>
                <a:schemeClr val="bg2">
                  <a:lumMod val="25000"/>
                </a:schemeClr>
              </a:solidFill>
              <a:latin typeface="Atyp Display" pitchFamily="2" charset="0"/>
              <a:ea typeface="Atyp Display" pitchFamily="2" charset="0"/>
            </a:endParaRPr>
          </a:p>
          <a:p>
            <a:r>
              <a:rPr lang="pt-BR" sz="2000">
                <a:solidFill>
                  <a:schemeClr val="bg2">
                    <a:lumMod val="25000"/>
                  </a:schemeClr>
                </a:solidFill>
                <a:latin typeface="Atyp Display" pitchFamily="2" charset="0"/>
                <a:ea typeface="Atyp Display" pitchFamily="2" charset="0"/>
              </a:rPr>
              <a:t>Isso é possível através de técnicas inovadoras, avaliação de tendências mercadológicas, e do monitoramento da concorrência.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9B7F82-2B80-9AB9-083E-38D96FC815CB}"/>
              </a:ext>
            </a:extLst>
          </p:cNvPr>
          <p:cNvSpPr txBox="1"/>
          <p:nvPr/>
        </p:nvSpPr>
        <p:spPr>
          <a:xfrm>
            <a:off x="758835" y="7886700"/>
            <a:ext cx="2043112" cy="971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pt-BR" sz="2000" b="1">
                <a:solidFill>
                  <a:schemeClr val="bg1"/>
                </a:solidFill>
                <a:latin typeface="Atyp Display Bold" pitchFamily="2" charset="0"/>
                <a:ea typeface="Atyp Display Bold" pitchFamily="2" charset="0"/>
              </a:rPr>
              <a:t>ANÁLISE</a:t>
            </a:r>
          </a:p>
          <a:p>
            <a:pPr algn="ctr"/>
            <a:r>
              <a:rPr lang="pt-BR" sz="2000" b="1">
                <a:solidFill>
                  <a:schemeClr val="bg1"/>
                </a:solidFill>
                <a:latin typeface="Atyp Display Bold" pitchFamily="2" charset="0"/>
                <a:ea typeface="Atyp Display Bold" pitchFamily="2" charset="0"/>
              </a:rPr>
              <a:t>CONSULTIVA</a:t>
            </a:r>
          </a:p>
          <a:p>
            <a:pPr algn="ctr"/>
            <a:r>
              <a:rPr lang="pt-BR" sz="2000" b="1">
                <a:solidFill>
                  <a:schemeClr val="bg1"/>
                </a:solidFill>
                <a:latin typeface="Atyp Display Bold" pitchFamily="2" charset="0"/>
                <a:ea typeface="Atyp Display Bold" pitchFamily="2" charset="0"/>
              </a:rPr>
              <a:t>DO BENEFÍCIO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3D96F34-7F7A-C622-3ACD-6141A9084EB4}"/>
              </a:ext>
            </a:extLst>
          </p:cNvPr>
          <p:cNvSpPr txBox="1"/>
          <p:nvPr/>
        </p:nvSpPr>
        <p:spPr>
          <a:xfrm>
            <a:off x="4243388" y="7886700"/>
            <a:ext cx="2043112" cy="971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pt-BR" sz="2000" b="1">
                <a:solidFill>
                  <a:schemeClr val="bg1"/>
                </a:solidFill>
                <a:latin typeface="Atyp Display Bold" pitchFamily="2" charset="0"/>
                <a:ea typeface="Atyp Display Bold" pitchFamily="2" charset="0"/>
              </a:rPr>
              <a:t>GESTÃO DE PROCESSOS OPERACIONAIS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F2A35C-FA58-3249-74A1-2DA8C42B2407}"/>
              </a:ext>
            </a:extLst>
          </p:cNvPr>
          <p:cNvSpPr txBox="1"/>
          <p:nvPr/>
        </p:nvSpPr>
        <p:spPr>
          <a:xfrm>
            <a:off x="8092584" y="7886700"/>
            <a:ext cx="1500188" cy="971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pt-BR" sz="2000" b="1">
                <a:solidFill>
                  <a:schemeClr val="bg1"/>
                </a:solidFill>
                <a:latin typeface="Atyp Display Bold" pitchFamily="2" charset="0"/>
                <a:ea typeface="Atyp Display Bold" pitchFamily="2" charset="0"/>
              </a:rPr>
              <a:t>GESTÃO EM SAÚDE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61245D-CD6D-54F4-1ABF-7A03C581FC17}"/>
              </a:ext>
            </a:extLst>
          </p:cNvPr>
          <p:cNvSpPr txBox="1"/>
          <p:nvPr/>
        </p:nvSpPr>
        <p:spPr>
          <a:xfrm>
            <a:off x="11195248" y="7886700"/>
            <a:ext cx="1970881" cy="971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pt-BR" sz="2000" b="1">
                <a:solidFill>
                  <a:schemeClr val="bg1"/>
                </a:solidFill>
                <a:latin typeface="Atyp Display Bold" pitchFamily="2" charset="0"/>
                <a:ea typeface="Atyp Display Bold" pitchFamily="2" charset="0"/>
              </a:rPr>
              <a:t>GESTÃO DO MARKETING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18BB1BD-D74A-8E8B-5F51-D39163A9848B}"/>
              </a:ext>
            </a:extLst>
          </p:cNvPr>
          <p:cNvSpPr txBox="1"/>
          <p:nvPr/>
        </p:nvSpPr>
        <p:spPr>
          <a:xfrm>
            <a:off x="14768606" y="7886700"/>
            <a:ext cx="1970881" cy="971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pt-BR" sz="2000" b="1">
                <a:solidFill>
                  <a:schemeClr val="bg1"/>
                </a:solidFill>
                <a:latin typeface="Atyp Display Bold" pitchFamily="2" charset="0"/>
                <a:ea typeface="Atyp Display Bold" pitchFamily="2" charset="0"/>
              </a:rPr>
              <a:t>GESTÃO ESTRATÉGICA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54F8F95-FBE3-95A0-1DD4-D9A18BB4E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72" y="5837798"/>
            <a:ext cx="1721039" cy="172103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29911E6-FE54-F7C2-4557-42B38129F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424" y="5837797"/>
            <a:ext cx="1721040" cy="172104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0E1D489-BFD1-2A32-B2E1-EED0FBEFA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158" y="5837797"/>
            <a:ext cx="1721040" cy="172104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CB67341-008C-33A1-90E7-696CDD5A4F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0168" y="5837797"/>
            <a:ext cx="1721040" cy="17210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A00D0A9-878D-AF5B-EDCB-820A711EB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3526" y="5837796"/>
            <a:ext cx="1721041" cy="1721041"/>
          </a:xfrm>
          <a:prstGeom prst="rect">
            <a:avLst/>
          </a:prstGeom>
        </p:spPr>
      </p:pic>
      <p:pic>
        <p:nvPicPr>
          <p:cNvPr id="18" name="Imagem 17" descr="Desenho de um círculo&#10;&#10;Descrição gerada automaticamente com confiança média">
            <a:extLst>
              <a:ext uri="{FF2B5EF4-FFF2-40B4-BE49-F238E27FC236}">
                <a16:creationId xmlns:a16="http://schemas.microsoft.com/office/drawing/2014/main" id="{5B28F8B3-F23F-8FB3-25DF-3184FF7758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1199" y="601265"/>
            <a:ext cx="1523101" cy="51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2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4" y="0"/>
            <a:ext cx="17554222" cy="9874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sz="172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Pessoas com roupas coloridas&#10;&#10;O conteúdo gerado por IA pode estar incorreto.">
            <a:extLst>
              <a:ext uri="{FF2B5EF4-FFF2-40B4-BE49-F238E27FC236}">
                <a16:creationId xmlns:a16="http://schemas.microsoft.com/office/drawing/2014/main" id="{23105956-1423-EE0B-4446-F42069FDC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557750" cy="9874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rcRect/>
          <a:stretch/>
        </p:blipFill>
        <p:spPr>
          <a:xfrm>
            <a:off x="1765" y="1"/>
            <a:ext cx="17554220" cy="9874249"/>
          </a:xfrm>
          <a:prstGeom prst="rect">
            <a:avLst/>
          </a:prstGeom>
        </p:spPr>
      </p:pic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72464F89-ACF7-0748-59F1-AEC926FF5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7383" y="8959200"/>
            <a:ext cx="1523101" cy="51416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F2D64F4-E4DD-B0EF-6FA3-9908A51C71EB}"/>
              </a:ext>
            </a:extLst>
          </p:cNvPr>
          <p:cNvSpPr txBox="1"/>
          <p:nvPr/>
        </p:nvSpPr>
        <p:spPr>
          <a:xfrm>
            <a:off x="973306" y="664946"/>
            <a:ext cx="8379241" cy="81908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5400" spc="600">
                <a:solidFill>
                  <a:schemeClr val="bg1"/>
                </a:solidFill>
                <a:latin typeface="Gobold Extra2" panose="02000500000000000000" pitchFamily="2" charset="0"/>
                <a:ea typeface="Atyp Display" pitchFamily="2" charset="0"/>
              </a:rPr>
              <a:t>GERAÇÃO DE VALOR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CD2BB7-6D92-B47F-3830-976A035A6C84}"/>
              </a:ext>
            </a:extLst>
          </p:cNvPr>
          <p:cNvSpPr txBox="1"/>
          <p:nvPr/>
        </p:nvSpPr>
        <p:spPr>
          <a:xfrm>
            <a:off x="989347" y="2023713"/>
            <a:ext cx="8587789" cy="194109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2000">
                <a:latin typeface="Atyp Display" pitchFamily="2" charset="0"/>
                <a:ea typeface="Atyp Display" pitchFamily="2" charset="0"/>
              </a:rPr>
              <a:t>Na </a:t>
            </a:r>
            <a:r>
              <a:rPr lang="pt-BR" sz="2000" err="1"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 sz="2000">
                <a:latin typeface="Atyp Display" pitchFamily="2" charset="0"/>
                <a:ea typeface="Atyp Display" pitchFamily="2" charset="0"/>
              </a:rPr>
              <a:t>, pessoas, processos e tecnologia são vocacionadas dentro de nossa metodologia que busca produzir melhor, com redução de recursos e tempo, incorporando mais valor ao cliente.</a:t>
            </a:r>
          </a:p>
          <a:p>
            <a:endParaRPr lang="pt-BR" sz="2000">
              <a:latin typeface="Atyp Display" pitchFamily="2" charset="0"/>
              <a:ea typeface="Atyp Display" pitchFamily="2" charset="0"/>
            </a:endParaRPr>
          </a:p>
          <a:p>
            <a:r>
              <a:rPr lang="pt-BR" sz="2000">
                <a:latin typeface="Atyp Display" pitchFamily="2" charset="0"/>
                <a:ea typeface="Atyp Display" pitchFamily="2" charset="0"/>
              </a:rPr>
              <a:t>Isso é possível através de técnicas inovadoras, avaliação de tendências mercadológicas, e do monitoramento da concorrência.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CE35646-C42A-B3CB-24A1-30317ADA7839}"/>
              </a:ext>
            </a:extLst>
          </p:cNvPr>
          <p:cNvSpPr txBox="1"/>
          <p:nvPr/>
        </p:nvSpPr>
        <p:spPr>
          <a:xfrm>
            <a:off x="989347" y="4795777"/>
            <a:ext cx="4288506" cy="47332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20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● Compromisso da redução na linha de negociação ao menor índice;</a:t>
            </a:r>
          </a:p>
          <a:p>
            <a:endParaRPr lang="pt-BR" sz="2000">
              <a:solidFill>
                <a:schemeClr val="bg1"/>
              </a:solidFill>
              <a:latin typeface="Atyp Display" pitchFamily="2" charset="0"/>
              <a:ea typeface="Atyp Display" pitchFamily="2" charset="0"/>
            </a:endParaRPr>
          </a:p>
          <a:p>
            <a:r>
              <a:rPr lang="pt-BR" sz="20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● Relatórios analíticos para averiguação dos fatos e planos de contingência;</a:t>
            </a:r>
          </a:p>
          <a:p>
            <a:endParaRPr lang="pt-BR" sz="2000">
              <a:solidFill>
                <a:schemeClr val="bg1"/>
              </a:solidFill>
              <a:latin typeface="Atyp Display" pitchFamily="2" charset="0"/>
              <a:ea typeface="Atyp Display" pitchFamily="2" charset="0"/>
            </a:endParaRPr>
          </a:p>
          <a:p>
            <a:r>
              <a:rPr lang="pt-BR" sz="20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● Time de gestão de pessoas focado em resultado e não na operação;</a:t>
            </a:r>
          </a:p>
          <a:p>
            <a:endParaRPr lang="pt-BR" sz="2000">
              <a:solidFill>
                <a:schemeClr val="bg1"/>
              </a:solidFill>
              <a:latin typeface="Atyp Display" pitchFamily="2" charset="0"/>
              <a:ea typeface="Atyp Display" pitchFamily="2" charset="0"/>
            </a:endParaRPr>
          </a:p>
          <a:p>
            <a:r>
              <a:rPr lang="pt-BR" sz="20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● Business case de clientes </a:t>
            </a:r>
            <a:r>
              <a:rPr lang="pt-BR" sz="2000" err="1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 sz="20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85AB69C-EDD8-02C7-5A16-62B2E68562FE}"/>
              </a:ext>
            </a:extLst>
          </p:cNvPr>
          <p:cNvSpPr txBox="1"/>
          <p:nvPr/>
        </p:nvSpPr>
        <p:spPr>
          <a:xfrm>
            <a:off x="5737810" y="4795777"/>
            <a:ext cx="4288506" cy="47332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20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● Automação de processos alinhados: esforço/eficiência;</a:t>
            </a:r>
          </a:p>
          <a:p>
            <a:endParaRPr lang="pt-BR" sz="2000">
              <a:solidFill>
                <a:schemeClr val="bg1"/>
              </a:solidFill>
              <a:latin typeface="Atyp Display" pitchFamily="2" charset="0"/>
              <a:ea typeface="Atyp Display" pitchFamily="2" charset="0"/>
            </a:endParaRPr>
          </a:p>
          <a:p>
            <a:r>
              <a:rPr lang="pt-BR" sz="20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● Equipe médica de hospitais renomados em São Paulo;</a:t>
            </a:r>
          </a:p>
          <a:p>
            <a:endParaRPr lang="pt-BR" sz="2000">
              <a:solidFill>
                <a:schemeClr val="bg1"/>
              </a:solidFill>
              <a:latin typeface="Atyp Display" pitchFamily="2" charset="0"/>
              <a:ea typeface="Atyp Display" pitchFamily="2" charset="0"/>
            </a:endParaRPr>
          </a:p>
          <a:p>
            <a:r>
              <a:rPr lang="pt-BR" sz="20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● Consultoria periódica para melhor negociação de reajustes com antecedência;</a:t>
            </a:r>
          </a:p>
          <a:p>
            <a:endParaRPr lang="pt-BR" sz="2000">
              <a:solidFill>
                <a:schemeClr val="bg1"/>
              </a:solidFill>
              <a:latin typeface="Atyp Display" pitchFamily="2" charset="0"/>
              <a:ea typeface="Atyp Display" pitchFamily="2" charset="0"/>
            </a:endParaRPr>
          </a:p>
          <a:p>
            <a:r>
              <a:rPr lang="pt-BR" sz="20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● Multiplataforma aos usuários.</a:t>
            </a:r>
          </a:p>
        </p:txBody>
      </p:sp>
    </p:spTree>
    <p:extLst>
      <p:ext uri="{BB962C8B-B14F-4D97-AF65-F5344CB8AC3E}">
        <p14:creationId xmlns:p14="http://schemas.microsoft.com/office/powerpoint/2010/main" val="150310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rcRect/>
          <a:stretch/>
        </p:blipFill>
        <p:spPr>
          <a:xfrm>
            <a:off x="1765" y="1"/>
            <a:ext cx="17554220" cy="98742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0F6A649-EED7-1FDF-8086-7300D029A93C}"/>
              </a:ext>
            </a:extLst>
          </p:cNvPr>
          <p:cNvSpPr txBox="1"/>
          <p:nvPr/>
        </p:nvSpPr>
        <p:spPr>
          <a:xfrm>
            <a:off x="973306" y="618571"/>
            <a:ext cx="3085347" cy="184937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pt-BR" sz="5400" spc="600" err="1">
                <a:solidFill>
                  <a:srgbClr val="0141B6"/>
                </a:solidFill>
                <a:latin typeface="Gobold Extra2" panose="02000500000000000000" pitchFamily="2" charset="0"/>
                <a:ea typeface="Atyp Display" pitchFamily="2" charset="0"/>
              </a:rPr>
              <a:t>One</a:t>
            </a:r>
            <a:endParaRPr lang="pt-BR" sz="5400" spc="600">
              <a:solidFill>
                <a:srgbClr val="0141B6"/>
              </a:solidFill>
              <a:latin typeface="Gobold Extra2" panose="02000500000000000000" pitchFamily="2" charset="0"/>
              <a:ea typeface="Atyp Display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5400" spc="600" err="1">
                <a:solidFill>
                  <a:srgbClr val="0141B6"/>
                </a:solidFill>
                <a:latin typeface="Gobold Extra2" panose="02000500000000000000" pitchFamily="2" charset="0"/>
                <a:ea typeface="Atyp Display" pitchFamily="2" charset="0"/>
              </a:rPr>
              <a:t>to</a:t>
            </a:r>
            <a:r>
              <a:rPr lang="pt-BR" sz="5400" spc="600">
                <a:solidFill>
                  <a:srgbClr val="0141B6"/>
                </a:solidFill>
                <a:latin typeface="Gobold Extra2" panose="02000500000000000000" pitchFamily="2" charset="0"/>
                <a:ea typeface="Atyp Display" pitchFamily="2" charset="0"/>
              </a:rPr>
              <a:t> </a:t>
            </a:r>
            <a:r>
              <a:rPr lang="pt-BR" sz="5400" spc="600" err="1">
                <a:solidFill>
                  <a:srgbClr val="0141B6"/>
                </a:solidFill>
                <a:latin typeface="Gobold Extra2" panose="02000500000000000000" pitchFamily="2" charset="0"/>
                <a:ea typeface="Atyp Display" pitchFamily="2" charset="0"/>
              </a:rPr>
              <a:t>one</a:t>
            </a:r>
            <a:endParaRPr lang="pt-BR" sz="5400" spc="600">
              <a:solidFill>
                <a:srgbClr val="0141B6"/>
              </a:solidFill>
              <a:latin typeface="Gobold Extra2" panose="02000500000000000000" pitchFamily="2" charset="0"/>
              <a:ea typeface="Atyp Display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43F6FED-05C6-09E8-7D66-835F2F246FFD}"/>
              </a:ext>
            </a:extLst>
          </p:cNvPr>
          <p:cNvSpPr txBox="1"/>
          <p:nvPr/>
        </p:nvSpPr>
        <p:spPr>
          <a:xfrm>
            <a:off x="4133600" y="713903"/>
            <a:ext cx="12903116" cy="194109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2000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Isso mesmo, o conceito de atendimento </a:t>
            </a:r>
            <a:r>
              <a:rPr lang="pt-BR" sz="2000" err="1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One</a:t>
            </a:r>
            <a:r>
              <a:rPr lang="pt-BR" sz="2000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 </a:t>
            </a:r>
            <a:r>
              <a:rPr lang="pt-BR" sz="2000" err="1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to</a:t>
            </a:r>
            <a:r>
              <a:rPr lang="pt-BR" sz="2000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 </a:t>
            </a:r>
            <a:r>
              <a:rPr lang="pt-BR" sz="2000" err="1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One</a:t>
            </a:r>
            <a:r>
              <a:rPr lang="pt-BR" sz="2000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 é uma estratégia que visa personalizar o atendimento ao cliente de forma individualizada, criando uma experiência única para cada pessoa.</a:t>
            </a:r>
          </a:p>
          <a:p>
            <a:endParaRPr lang="pt-BR" sz="2000">
              <a:solidFill>
                <a:srgbClr val="0141B6"/>
              </a:solidFill>
              <a:latin typeface="Atyp Display" pitchFamily="2" charset="0"/>
              <a:ea typeface="Atyp Display" pitchFamily="2" charset="0"/>
            </a:endParaRPr>
          </a:p>
          <a:p>
            <a:r>
              <a:rPr lang="pt-BR" sz="2000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Em resumo, o atendimento </a:t>
            </a:r>
            <a:r>
              <a:rPr lang="pt-BR" sz="2000" err="1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One</a:t>
            </a:r>
            <a:r>
              <a:rPr lang="pt-BR" sz="2000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 </a:t>
            </a:r>
            <a:r>
              <a:rPr lang="pt-BR" sz="2000" err="1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to</a:t>
            </a:r>
            <a:r>
              <a:rPr lang="pt-BR" sz="2000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 </a:t>
            </a:r>
            <a:r>
              <a:rPr lang="pt-BR" sz="2000" err="1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One</a:t>
            </a:r>
            <a:r>
              <a:rPr lang="pt-BR" sz="2000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 é uma prática essencial e está intrínseca à cultura da </a:t>
            </a:r>
            <a:r>
              <a:rPr lang="pt-BR" sz="2000" err="1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 sz="2000">
                <a:solidFill>
                  <a:srgbClr val="0141B6"/>
                </a:solidFill>
                <a:latin typeface="Atyp Display" pitchFamily="2" charset="0"/>
                <a:ea typeface="Atyp Display" pitchFamily="2" charset="0"/>
              </a:rPr>
              <a:t> para as empresas que desejam oferecer uma experiência de atendimento humanizado aos seus colaboradores, aumentando a lealdade e a satisfação.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5624D9-ED2A-FB15-AD24-E1E6B9CCAED0}"/>
              </a:ext>
            </a:extLst>
          </p:cNvPr>
          <p:cNvSpPr txBox="1"/>
          <p:nvPr/>
        </p:nvSpPr>
        <p:spPr>
          <a:xfrm>
            <a:off x="973306" y="4371894"/>
            <a:ext cx="11186610" cy="76158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4000">
                <a:solidFill>
                  <a:srgbClr val="FFC000"/>
                </a:solidFill>
                <a:latin typeface="Gobold Extra2" panose="02000500000000000000" pitchFamily="2" charset="0"/>
                <a:ea typeface="Atyp Display" pitchFamily="2" charset="0"/>
              </a:rPr>
              <a:t>Alguns reconhecimentos do nosso jeito de ser: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B0763D3-CE1E-4695-D709-0AF611795FC1}"/>
              </a:ext>
            </a:extLst>
          </p:cNvPr>
          <p:cNvSpPr txBox="1"/>
          <p:nvPr/>
        </p:nvSpPr>
        <p:spPr>
          <a:xfrm>
            <a:off x="7293895" y="5567031"/>
            <a:ext cx="9389893" cy="8818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16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“Na </a:t>
            </a:r>
            <a:r>
              <a:rPr lang="pt-BR" sz="1600" err="1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 sz="16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 podemos contar com o suporte de pós-vendas para todas as tratativas dos planos e dificuldades que encontramos no caminho, sem dúvida foi a melhor escolha para a empresa e colaboradores.”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6D970DC-73AF-5337-29AB-C464786A7F81}"/>
              </a:ext>
            </a:extLst>
          </p:cNvPr>
          <p:cNvSpPr txBox="1"/>
          <p:nvPr/>
        </p:nvSpPr>
        <p:spPr>
          <a:xfrm>
            <a:off x="973306" y="7026862"/>
            <a:ext cx="4593306" cy="17641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16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“Nossa experiência com a </a:t>
            </a:r>
            <a:r>
              <a:rPr lang="pt-BR" sz="1600" err="1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 sz="16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 tem sido muito positiva, após muitos anos tratando apenas com corretores de vendas, a </a:t>
            </a:r>
            <a:r>
              <a:rPr lang="pt-BR" sz="1600" err="1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 sz="16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 nos apresentou seu diferencial em ter uma consultoria em planos médicos e não apenas um corretor onde o foco é vender.”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3AD6F6E-1625-5D95-5107-5174C3A82669}"/>
              </a:ext>
            </a:extLst>
          </p:cNvPr>
          <p:cNvSpPr txBox="1"/>
          <p:nvPr/>
        </p:nvSpPr>
        <p:spPr>
          <a:xfrm>
            <a:off x="7293895" y="7026862"/>
            <a:ext cx="9389893" cy="14024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16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“A palestra com Rafael foi excelente,. Começamos desde o alinhamento de conteúdo e necessidades para o grupo de liderança da PERI Brasil, Rafael foi muito diligente, flexível e extremamente aberto a entender a dinâmica do grupo, temas foco e necessidades identificadas pelas ferramentas que temos implantadas. Foi preciso em detalhar todas as estratégias que adota, com o simples objetivo de ser assertivo e entregar um conteúdo de alta qualidade.”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0A6B115-F121-85BB-36E8-B1A59D3E567A}"/>
              </a:ext>
            </a:extLst>
          </p:cNvPr>
          <p:cNvSpPr txBox="1"/>
          <p:nvPr/>
        </p:nvSpPr>
        <p:spPr>
          <a:xfrm>
            <a:off x="973305" y="9368924"/>
            <a:ext cx="7352547" cy="35259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1600">
                <a:solidFill>
                  <a:srgbClr val="FFC000"/>
                </a:solidFill>
                <a:latin typeface="Atyp Display" pitchFamily="2" charset="0"/>
                <a:ea typeface="Atyp Display" pitchFamily="2" charset="0"/>
              </a:rPr>
              <a:t>*seguindo as normas da </a:t>
            </a:r>
            <a:r>
              <a:rPr lang="pt-BR" sz="1600" err="1">
                <a:solidFill>
                  <a:srgbClr val="FFC000"/>
                </a:solidFill>
                <a:latin typeface="Atyp Display" pitchFamily="2" charset="0"/>
                <a:ea typeface="Atyp Display" pitchFamily="2" charset="0"/>
              </a:rPr>
              <a:t>LGPD</a:t>
            </a:r>
            <a:r>
              <a:rPr lang="pt-BR" sz="1600">
                <a:solidFill>
                  <a:srgbClr val="FFC000"/>
                </a:solidFill>
                <a:latin typeface="Atyp Display" pitchFamily="2" charset="0"/>
                <a:ea typeface="Atyp Display" pitchFamily="2" charset="0"/>
              </a:rPr>
              <a:t> os nomes dos clientes foram preservados.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5960118-E0B7-56F5-7F62-9C0903765B6F}"/>
              </a:ext>
            </a:extLst>
          </p:cNvPr>
          <p:cNvSpPr txBox="1"/>
          <p:nvPr/>
        </p:nvSpPr>
        <p:spPr>
          <a:xfrm>
            <a:off x="973305" y="5567031"/>
            <a:ext cx="4930189" cy="11225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pt-BR" sz="16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“Trabalhamos com a </a:t>
            </a:r>
            <a:r>
              <a:rPr lang="pt-BR" sz="1600" err="1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 sz="1600">
                <a:solidFill>
                  <a:schemeClr val="bg1"/>
                </a:solidFill>
                <a:latin typeface="Atyp Display" pitchFamily="2" charset="0"/>
                <a:ea typeface="Atyp Display" pitchFamily="2" charset="0"/>
              </a:rPr>
              <a:t> há quase 9 anos. Desde o início tive todo o suporte por parte da empresa. A equipe é super profissional e disposta a nos ajudar.”</a:t>
            </a:r>
          </a:p>
        </p:txBody>
      </p:sp>
      <p:pic>
        <p:nvPicPr>
          <p:cNvPr id="12" name="Imagem 11" descr="Logotipo, nome da empresa&#10;&#10;Descrição gerada automaticamente">
            <a:extLst>
              <a:ext uri="{FF2B5EF4-FFF2-40B4-BE49-F238E27FC236}">
                <a16:creationId xmlns:a16="http://schemas.microsoft.com/office/drawing/2014/main" id="{1EC16B5F-8FBE-03A8-2365-ECF66E4E6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7383" y="8959200"/>
            <a:ext cx="1523101" cy="51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0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4" y="0"/>
            <a:ext cx="17554222" cy="9874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sz="172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4" y="0"/>
            <a:ext cx="17554222" cy="9874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sz="172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4" y="0"/>
            <a:ext cx="17554222" cy="9874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sz="1728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4" y="0"/>
            <a:ext cx="17554222" cy="9874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sz="1728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7E6C03E-ACA2-58EC-60E7-735A1E44DF8D}"/>
              </a:ext>
            </a:extLst>
          </p:cNvPr>
          <p:cNvSpPr/>
          <p:nvPr/>
        </p:nvSpPr>
        <p:spPr>
          <a:xfrm>
            <a:off x="0" y="0"/>
            <a:ext cx="17557750" cy="987425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F77849-3736-C366-904A-A3D5EAB00864}"/>
              </a:ext>
            </a:extLst>
          </p:cNvPr>
          <p:cNvSpPr txBox="1"/>
          <p:nvPr/>
        </p:nvSpPr>
        <p:spPr>
          <a:xfrm>
            <a:off x="973306" y="648064"/>
            <a:ext cx="11698156" cy="160005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5400" spc="600">
                <a:solidFill>
                  <a:srgbClr val="F2BA5A"/>
                </a:solidFill>
                <a:latin typeface="Gobold Extra2" panose="02000500000000000000" pitchFamily="2" charset="0"/>
                <a:ea typeface="Atyp Display" pitchFamily="2" charset="0"/>
              </a:rPr>
              <a:t>CONQUISTAS</a:t>
            </a:r>
          </a:p>
          <a:p>
            <a:r>
              <a:rPr lang="pt-BR" sz="5400" spc="600">
                <a:solidFill>
                  <a:srgbClr val="F2BA5A"/>
                </a:solidFill>
                <a:latin typeface="Gobold Extra2" panose="02000500000000000000" pitchFamily="2" charset="0"/>
                <a:ea typeface="Atyp Display" pitchFamily="2" charset="0"/>
              </a:rPr>
              <a:t>QUE AGGREGAM</a:t>
            </a:r>
          </a:p>
        </p:txBody>
      </p:sp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A52F057B-D1FD-5F6B-762C-10C541F840A2}"/>
              </a:ext>
            </a:extLst>
          </p:cNvPr>
          <p:cNvSpPr/>
          <p:nvPr/>
        </p:nvSpPr>
        <p:spPr>
          <a:xfrm>
            <a:off x="716860" y="2741292"/>
            <a:ext cx="4996091" cy="1907300"/>
          </a:xfrm>
          <a:prstGeom prst="roundRect">
            <a:avLst>
              <a:gd name="adj" fmla="val 924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2000" sy="102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AF1B1469-8774-4786-BDE9-A095AD5CEA15}"/>
              </a:ext>
            </a:extLst>
          </p:cNvPr>
          <p:cNvSpPr txBox="1"/>
          <p:nvPr/>
        </p:nvSpPr>
        <p:spPr>
          <a:xfrm>
            <a:off x="976856" y="3007022"/>
            <a:ext cx="3502337" cy="121285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>
            <a:noAutofit/>
          </a:bodyPr>
          <a:lstStyle/>
          <a:p>
            <a:pPr defTabSz="987218">
              <a:lnSpc>
                <a:spcPct val="150000"/>
              </a:lnSpc>
              <a:defRPr/>
            </a:pPr>
            <a:r>
              <a:rPr lang="pt-BR" sz="2592" err="1">
                <a:solidFill>
                  <a:schemeClr val="tx1">
                    <a:lumMod val="65000"/>
                    <a:lumOff val="35000"/>
                  </a:schemeClr>
                </a:solidFill>
                <a:latin typeface="Atyp Display Light" pitchFamily="2" charset="0"/>
                <a:ea typeface="Atyp Display Light" pitchFamily="2" charset="0"/>
              </a:rPr>
              <a:t>Mega</a:t>
            </a:r>
            <a:r>
              <a:rPr lang="pt-BR" sz="2592">
                <a:solidFill>
                  <a:schemeClr val="tx1">
                    <a:lumMod val="65000"/>
                    <a:lumOff val="35000"/>
                  </a:schemeClr>
                </a:solidFill>
                <a:latin typeface="Atyp Display Light" pitchFamily="2" charset="0"/>
                <a:ea typeface="Atyp Display Light" pitchFamily="2" charset="0"/>
              </a:rPr>
              <a:t> </a:t>
            </a:r>
            <a:r>
              <a:rPr lang="pt-BR" sz="3456" b="1">
                <a:solidFill>
                  <a:schemeClr val="tx1">
                    <a:lumMod val="65000"/>
                    <a:lumOff val="35000"/>
                  </a:schemeClr>
                </a:solidFill>
                <a:latin typeface="Atyp Display Semibold" pitchFamily="2" charset="0"/>
                <a:ea typeface="Atyp Display Semibold" pitchFamily="2" charset="0"/>
              </a:rPr>
              <a:t>FACILIDADE</a:t>
            </a:r>
          </a:p>
          <a:p>
            <a:pPr defTabSz="987218">
              <a:defRPr/>
            </a:pPr>
            <a:r>
              <a:rPr lang="pt-BR" sz="2592">
                <a:solidFill>
                  <a:schemeClr val="tx1">
                    <a:lumMod val="65000"/>
                    <a:lumOff val="35000"/>
                  </a:schemeClr>
                </a:solidFill>
                <a:latin typeface="Atyp Display Light" pitchFamily="2" charset="0"/>
                <a:ea typeface="Atyp Display Light" pitchFamily="2" charset="0"/>
              </a:rPr>
              <a:t>na mudança de plano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EC79758-A72B-4A3D-B8ED-6AD92F08519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3930" y="2521919"/>
            <a:ext cx="1565817" cy="1400026"/>
          </a:xfrm>
          <a:prstGeom prst="rect">
            <a:avLst/>
          </a:prstGeom>
        </p:spPr>
      </p:pic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D014937B-4C74-EBE4-D404-BFCE42344DB3}"/>
              </a:ext>
            </a:extLst>
          </p:cNvPr>
          <p:cNvSpPr/>
          <p:nvPr/>
        </p:nvSpPr>
        <p:spPr>
          <a:xfrm>
            <a:off x="716860" y="5216712"/>
            <a:ext cx="4996091" cy="1641570"/>
          </a:xfrm>
          <a:prstGeom prst="roundRect">
            <a:avLst>
              <a:gd name="adj" fmla="val 9240"/>
            </a:avLst>
          </a:prstGeom>
          <a:solidFill>
            <a:srgbClr val="F2BA5A"/>
          </a:solidFill>
          <a:ln>
            <a:noFill/>
          </a:ln>
          <a:effectLst>
            <a:outerShdw blurRad="127000" dist="38100" dir="5400000" sx="102000" sy="102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711E9CD5-5D96-42DE-823A-4D93FC4220EA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902873">
            <a:off x="2605472" y="5381070"/>
            <a:ext cx="1929965" cy="1528532"/>
          </a:xfrm>
          <a:prstGeom prst="rect">
            <a:avLst/>
          </a:prstGeom>
        </p:spPr>
      </p:pic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B40F5544-EEC0-CE04-43AA-1E9B1018F5C5}"/>
              </a:ext>
            </a:extLst>
          </p:cNvPr>
          <p:cNvSpPr/>
          <p:nvPr/>
        </p:nvSpPr>
        <p:spPr>
          <a:xfrm>
            <a:off x="716860" y="7521283"/>
            <a:ext cx="4996091" cy="1641570"/>
          </a:xfrm>
          <a:prstGeom prst="roundRect">
            <a:avLst>
              <a:gd name="adj" fmla="val 924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2000" sy="102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231C85A6-CB86-4DBD-AE4D-3F312249F4B7}"/>
              </a:ext>
            </a:extLst>
          </p:cNvPr>
          <p:cNvSpPr txBox="1"/>
          <p:nvPr/>
        </p:nvSpPr>
        <p:spPr>
          <a:xfrm>
            <a:off x="976855" y="7647218"/>
            <a:ext cx="3965927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spAutoFit/>
          </a:bodyPr>
          <a:lstStyle/>
          <a:p>
            <a:pPr defTabSz="987218">
              <a:defRPr/>
            </a:pPr>
            <a:r>
              <a:rPr lang="pt-BR" sz="2400" b="1">
                <a:solidFill>
                  <a:schemeClr val="tx1">
                    <a:lumMod val="65000"/>
                    <a:lumOff val="35000"/>
                  </a:schemeClr>
                </a:solidFill>
                <a:latin typeface="ATYP DISPLAY MEDIUM" pitchFamily="2" charset="0"/>
                <a:ea typeface="ATYP DISPLAY MEDIUM" pitchFamily="2" charset="0"/>
              </a:rPr>
              <a:t>Meta:</a:t>
            </a:r>
          </a:p>
          <a:p>
            <a:pPr defTabSz="987218">
              <a:defRPr/>
            </a:pPr>
            <a:r>
              <a:rPr lang="pt-BR" sz="2400">
                <a:solidFill>
                  <a:schemeClr val="tx1">
                    <a:lumMod val="65000"/>
                    <a:lumOff val="35000"/>
                  </a:schemeClr>
                </a:solidFill>
                <a:latin typeface="Atyp Display Medium" pitchFamily="2" charset="0"/>
                <a:ea typeface="Atyp Display Medium" pitchFamily="2" charset="0"/>
              </a:rPr>
              <a:t>Implantação </a:t>
            </a:r>
            <a:r>
              <a:rPr lang="pt-BR" sz="2400" b="1">
                <a:solidFill>
                  <a:srgbClr val="FABB00"/>
                </a:solidFill>
                <a:latin typeface="ATYP DISPLAY MEDIUM" pitchFamily="2" charset="0"/>
                <a:ea typeface="ATYP DISPLAY MEDIUM" pitchFamily="2" charset="0"/>
              </a:rPr>
              <a:t>Projeto</a:t>
            </a: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D59EAE2-F92E-48C3-AE06-4FF3EDDE617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8654" y="7111243"/>
            <a:ext cx="2204292" cy="1735292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795BE360-8C3A-4D05-80D0-C44DBE678F60}"/>
              </a:ext>
            </a:extLst>
          </p:cNvPr>
          <p:cNvSpPr txBox="1"/>
          <p:nvPr/>
        </p:nvSpPr>
        <p:spPr>
          <a:xfrm>
            <a:off x="951369" y="8212551"/>
            <a:ext cx="4806722" cy="72712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spAutoFit/>
          </a:bodyPr>
          <a:lstStyle/>
          <a:p>
            <a:pPr defTabSz="987218">
              <a:lnSpc>
                <a:spcPct val="150000"/>
              </a:lnSpc>
              <a:defRPr/>
            </a:pPr>
            <a:r>
              <a:rPr lang="pt-BR" sz="3600" b="1">
                <a:solidFill>
                  <a:srgbClr val="FABB00"/>
                </a:solidFill>
                <a:latin typeface="ATYP DISPLAY MEDIUM" pitchFamily="2" charset="0"/>
                <a:ea typeface="ATYP DISPLAY MEDIUM" pitchFamily="2" charset="0"/>
              </a:rPr>
              <a:t>Qualidade de Vida</a:t>
            </a:r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C4549830-B55C-3C98-F199-DC498C1888F3}"/>
              </a:ext>
            </a:extLst>
          </p:cNvPr>
          <p:cNvSpPr/>
          <p:nvPr/>
        </p:nvSpPr>
        <p:spPr>
          <a:xfrm>
            <a:off x="6394276" y="2160652"/>
            <a:ext cx="6045653" cy="2490132"/>
          </a:xfrm>
          <a:prstGeom prst="roundRect">
            <a:avLst>
              <a:gd name="adj" fmla="val 924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2000" sy="102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436B1F1A-1795-361F-8FFE-05FE3CAEDDBC}"/>
              </a:ext>
            </a:extLst>
          </p:cNvPr>
          <p:cNvSpPr/>
          <p:nvPr/>
        </p:nvSpPr>
        <p:spPr>
          <a:xfrm>
            <a:off x="6081340" y="5216712"/>
            <a:ext cx="6358590" cy="1641570"/>
          </a:xfrm>
          <a:prstGeom prst="roundRect">
            <a:avLst>
              <a:gd name="adj" fmla="val 9240"/>
            </a:avLst>
          </a:prstGeom>
          <a:solidFill>
            <a:srgbClr val="F2BA5A"/>
          </a:solidFill>
          <a:ln>
            <a:noFill/>
          </a:ln>
          <a:effectLst>
            <a:outerShdw blurRad="127000" dist="38100" dir="5400000" sx="102000" sy="102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9A1B8925-7AF0-4F6C-9522-043B4633C032}"/>
              </a:ext>
            </a:extLst>
          </p:cNvPr>
          <p:cNvSpPr txBox="1"/>
          <p:nvPr/>
        </p:nvSpPr>
        <p:spPr>
          <a:xfrm>
            <a:off x="6765634" y="5470739"/>
            <a:ext cx="4990002" cy="11335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spAutoFit/>
          </a:bodyPr>
          <a:lstStyle/>
          <a:p>
            <a:pPr algn="ctr" defTabSz="987218">
              <a:lnSpc>
                <a:spcPct val="150000"/>
              </a:lnSpc>
              <a:defRPr/>
            </a:pPr>
            <a:r>
              <a:rPr lang="pt-BR" sz="2592">
                <a:solidFill>
                  <a:schemeClr val="bg1"/>
                </a:solidFill>
                <a:latin typeface="Atyp Display Medium" pitchFamily="2" charset="0"/>
                <a:ea typeface="Atyp Display Medium" pitchFamily="2" charset="0"/>
              </a:rPr>
              <a:t>SLA: 72H &gt; 24H </a:t>
            </a:r>
          </a:p>
          <a:p>
            <a:pPr algn="ctr" defTabSz="987218">
              <a:lnSpc>
                <a:spcPct val="150000"/>
              </a:lnSpc>
              <a:defRPr/>
            </a:pPr>
            <a:r>
              <a:rPr lang="pt-BR" sz="2592">
                <a:solidFill>
                  <a:schemeClr val="bg1"/>
                </a:solidFill>
                <a:latin typeface="Atyp Display Medium" pitchFamily="2" charset="0"/>
                <a:ea typeface="Atyp Display Medium" pitchFamily="2" charset="0"/>
              </a:rPr>
              <a:t>PRODUTIVIDADE de operações</a:t>
            </a:r>
          </a:p>
        </p:txBody>
      </p:sp>
      <p:sp>
        <p:nvSpPr>
          <p:cNvPr id="17" name="Retângulo Arredondado 16">
            <a:extLst>
              <a:ext uri="{FF2B5EF4-FFF2-40B4-BE49-F238E27FC236}">
                <a16:creationId xmlns:a16="http://schemas.microsoft.com/office/drawing/2014/main" id="{76E27B99-3126-85D5-58A1-2AE08BF88FCC}"/>
              </a:ext>
            </a:extLst>
          </p:cNvPr>
          <p:cNvSpPr/>
          <p:nvPr/>
        </p:nvSpPr>
        <p:spPr>
          <a:xfrm>
            <a:off x="6081340" y="7524221"/>
            <a:ext cx="6358590" cy="1638632"/>
          </a:xfrm>
          <a:prstGeom prst="roundRect">
            <a:avLst>
              <a:gd name="adj" fmla="val 924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2000" sy="102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8C1F391-5838-4CAA-9A1B-E232C0A88750}"/>
              </a:ext>
            </a:extLst>
          </p:cNvPr>
          <p:cNvSpPr txBox="1"/>
          <p:nvPr/>
        </p:nvSpPr>
        <p:spPr>
          <a:xfrm>
            <a:off x="6579955" y="7909257"/>
            <a:ext cx="5361359" cy="8658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spAutoFit/>
          </a:bodyPr>
          <a:lstStyle/>
          <a:p>
            <a:pPr defTabSz="987218">
              <a:lnSpc>
                <a:spcPct val="150000"/>
              </a:lnSpc>
              <a:defRPr/>
            </a:pPr>
            <a:r>
              <a:rPr lang="pt-BR" sz="2000" b="1">
                <a:solidFill>
                  <a:schemeClr val="tx1">
                    <a:lumMod val="65000"/>
                    <a:lumOff val="35000"/>
                  </a:schemeClr>
                </a:solidFill>
                <a:latin typeface="Atyp Display Semibold" pitchFamily="2" charset="0"/>
                <a:ea typeface="Atyp Display Semibold" pitchFamily="2" charset="0"/>
              </a:rPr>
              <a:t>CHECK UP: 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  <a:latin typeface="Atyp Display Light" pitchFamily="2" charset="0"/>
                <a:ea typeface="Atyp Display Light" pitchFamily="2" charset="0"/>
              </a:rPr>
              <a:t>na </a:t>
            </a:r>
            <a:r>
              <a:rPr lang="pt-BR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Atyp Display Light" pitchFamily="2" charset="0"/>
                <a:ea typeface="Atyp Display Light" pitchFamily="2" charset="0"/>
              </a:rPr>
              <a:t>Aggrega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  <a:latin typeface="Atyp Display Light" pitchFamily="2" charset="0"/>
                <a:ea typeface="Atyp Display Light" pitchFamily="2" charset="0"/>
              </a:rPr>
              <a:t> há BENEFÍCIO de CHECK UP anual para os executivos do plano</a:t>
            </a:r>
          </a:p>
        </p:txBody>
      </p: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54F8947D-AD72-92ED-4180-4ADCC6018C73}"/>
              </a:ext>
            </a:extLst>
          </p:cNvPr>
          <p:cNvSpPr/>
          <p:nvPr/>
        </p:nvSpPr>
        <p:spPr>
          <a:xfrm>
            <a:off x="12775993" y="4368150"/>
            <a:ext cx="4120208" cy="2490132"/>
          </a:xfrm>
          <a:prstGeom prst="roundRect">
            <a:avLst>
              <a:gd name="adj" fmla="val 9240"/>
            </a:avLst>
          </a:prstGeom>
          <a:solidFill>
            <a:srgbClr val="F2BA5A"/>
          </a:solidFill>
          <a:ln>
            <a:noFill/>
          </a:ln>
          <a:effectLst>
            <a:outerShdw blurRad="127000" dist="38100" dir="5400000" sx="102000" sy="102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1D18CFD3-6F46-45A1-8B84-F6B5D55657C4}"/>
              </a:ext>
            </a:extLst>
          </p:cNvPr>
          <p:cNvSpPr txBox="1"/>
          <p:nvPr/>
        </p:nvSpPr>
        <p:spPr>
          <a:xfrm>
            <a:off x="13112932" y="4764805"/>
            <a:ext cx="3414296" cy="15955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spAutoFit/>
          </a:bodyPr>
          <a:lstStyle/>
          <a:p>
            <a:pPr defTabSz="987218">
              <a:defRPr/>
            </a:pPr>
            <a:r>
              <a:rPr lang="pt-BR" sz="2592">
                <a:solidFill>
                  <a:schemeClr val="bg1"/>
                </a:solidFill>
                <a:latin typeface="Atyp Display Medium" pitchFamily="2" charset="0"/>
                <a:ea typeface="Atyp Display Medium" pitchFamily="2" charset="0"/>
              </a:rPr>
              <a:t>Meta: Relatório de Sinistro Completo</a:t>
            </a:r>
          </a:p>
          <a:p>
            <a:pPr defTabSz="987218">
              <a:defRPr/>
            </a:pPr>
            <a:r>
              <a:rPr lang="pt-BR" sz="2592">
                <a:solidFill>
                  <a:schemeClr val="bg1"/>
                </a:solidFill>
                <a:latin typeface="Atyp Display Medium" pitchFamily="2" charset="0"/>
                <a:ea typeface="Atyp Display Medium" pitchFamily="2" charset="0"/>
              </a:rPr>
              <a:t>Panorama total sobre a atual situação</a:t>
            </a:r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F49AE1-F694-454C-9152-B3B4EF1E6D5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807440" y="6073870"/>
            <a:ext cx="3261360" cy="3410357"/>
          </a:xfrm>
          <a:prstGeom prst="rect">
            <a:avLst/>
          </a:prstGeom>
        </p:spPr>
      </p:pic>
      <p:sp>
        <p:nvSpPr>
          <p:cNvPr id="19" name="Retângulo Arredondado 18">
            <a:extLst>
              <a:ext uri="{FF2B5EF4-FFF2-40B4-BE49-F238E27FC236}">
                <a16:creationId xmlns:a16="http://schemas.microsoft.com/office/drawing/2014/main" id="{BE3A1303-8714-C34F-7472-3B717B1CE1F9}"/>
              </a:ext>
            </a:extLst>
          </p:cNvPr>
          <p:cNvSpPr/>
          <p:nvPr/>
        </p:nvSpPr>
        <p:spPr>
          <a:xfrm>
            <a:off x="12775992" y="2164970"/>
            <a:ext cx="4120208" cy="1684104"/>
          </a:xfrm>
          <a:prstGeom prst="roundRect">
            <a:avLst>
              <a:gd name="adj" fmla="val 924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2000" sy="102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0A771825-B22B-460F-95B7-FC48CAFA7815}"/>
              </a:ext>
            </a:extLst>
          </p:cNvPr>
          <p:cNvSpPr txBox="1"/>
          <p:nvPr/>
        </p:nvSpPr>
        <p:spPr>
          <a:xfrm>
            <a:off x="6817884" y="2633158"/>
            <a:ext cx="5224170" cy="14600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spAutoFit/>
          </a:bodyPr>
          <a:lstStyle/>
          <a:p>
            <a:pPr defTabSz="987218">
              <a:lnSpc>
                <a:spcPct val="150000"/>
              </a:lnSpc>
              <a:defRPr/>
            </a:pPr>
            <a:r>
              <a:rPr lang="pt-BR" sz="2200">
                <a:solidFill>
                  <a:schemeClr val="tx1">
                    <a:lumMod val="65000"/>
                    <a:lumOff val="35000"/>
                  </a:schemeClr>
                </a:solidFill>
                <a:latin typeface="Atyp Display Medium" pitchFamily="2" charset="0"/>
                <a:ea typeface="Atyp Display Medium" pitchFamily="2" charset="0"/>
              </a:rPr>
              <a:t>Outsourcing</a:t>
            </a:r>
          </a:p>
          <a:p>
            <a:pPr defTabSz="987218">
              <a:lnSpc>
                <a:spcPct val="150000"/>
              </a:lnSpc>
              <a:defRPr/>
            </a:pPr>
            <a:r>
              <a:rPr lang="pt-BR" sz="2200">
                <a:solidFill>
                  <a:schemeClr val="tx1">
                    <a:lumMod val="65000"/>
                    <a:lumOff val="35000"/>
                  </a:schemeClr>
                </a:solidFill>
                <a:latin typeface="Atyp Display Medium" pitchFamily="2" charset="0"/>
                <a:ea typeface="Atyp Display Medium" pitchFamily="2" charset="0"/>
              </a:rPr>
              <a:t>técnico de saúde </a:t>
            </a:r>
          </a:p>
          <a:p>
            <a:pPr defTabSz="987218">
              <a:lnSpc>
                <a:spcPct val="150000"/>
              </a:lnSpc>
              <a:defRPr/>
            </a:pPr>
            <a:r>
              <a:rPr lang="pt-BR" sz="2200">
                <a:solidFill>
                  <a:schemeClr val="tx1">
                    <a:lumMod val="65000"/>
                    <a:lumOff val="35000"/>
                  </a:schemeClr>
                </a:solidFill>
                <a:latin typeface="Atyp Display Medium" pitchFamily="2" charset="0"/>
                <a:ea typeface="Atyp Display Medium" pitchFamily="2" charset="0"/>
              </a:rPr>
              <a:t>Médico e técnico de saúde disponíveis</a:t>
            </a:r>
            <a:endParaRPr lang="pt-BR" sz="2200" b="1">
              <a:solidFill>
                <a:schemeClr val="tx1">
                  <a:lumMod val="65000"/>
                  <a:lumOff val="35000"/>
                </a:schemeClr>
              </a:solidFill>
              <a:latin typeface="ATYP DISPLAY MEDIUM" pitchFamily="2" charset="0"/>
              <a:ea typeface="ATYP DISPLAY MEDIUM" pitchFamily="2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7BB7FCB8-0E5C-48C5-A803-46ED1C140D73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00717" y="1878240"/>
            <a:ext cx="2281067" cy="1326579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74DE9FA5-B792-4BA4-BAD9-72A9A55C021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56084" y="1712636"/>
            <a:ext cx="1420728" cy="1512389"/>
          </a:xfrm>
          <a:prstGeom prst="rect">
            <a:avLst/>
          </a:prstGeom>
        </p:spPr>
      </p:pic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E1F68419-1D88-479E-ADA4-A8672E41DE51}"/>
              </a:ext>
            </a:extLst>
          </p:cNvPr>
          <p:cNvSpPr txBox="1"/>
          <p:nvPr/>
        </p:nvSpPr>
        <p:spPr>
          <a:xfrm>
            <a:off x="13463368" y="2429589"/>
            <a:ext cx="1960806" cy="103906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spAutoFit/>
          </a:bodyPr>
          <a:lstStyle/>
          <a:p>
            <a:pPr defTabSz="987218">
              <a:lnSpc>
                <a:spcPct val="150000"/>
              </a:lnSpc>
              <a:defRPr/>
            </a:pPr>
            <a:r>
              <a:rPr lang="pt-BR" sz="2400" b="1">
                <a:solidFill>
                  <a:schemeClr val="tx1">
                    <a:lumMod val="65000"/>
                    <a:lumOff val="35000"/>
                  </a:schemeClr>
                </a:solidFill>
                <a:latin typeface="Atyp Display Semibold" pitchFamily="2" charset="0"/>
                <a:ea typeface="Atyp Display Semibold" pitchFamily="2" charset="0"/>
              </a:rPr>
              <a:t>Meta:</a:t>
            </a:r>
          </a:p>
          <a:p>
            <a:pPr defTabSz="987218">
              <a:lnSpc>
                <a:spcPct val="150000"/>
              </a:lnSpc>
              <a:defRPr/>
            </a:pPr>
            <a:r>
              <a:rPr lang="pt-BR" sz="2400">
                <a:solidFill>
                  <a:schemeClr val="tx1">
                    <a:lumMod val="65000"/>
                    <a:lumOff val="35000"/>
                  </a:schemeClr>
                </a:solidFill>
                <a:latin typeface="Atyp Display Light" pitchFamily="2" charset="0"/>
                <a:ea typeface="Atyp Display Light" pitchFamily="2" charset="0"/>
              </a:rPr>
              <a:t>4 Consultas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793C408F-3BB6-2679-3F7A-99678BEE0D2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7241" y="565162"/>
            <a:ext cx="1491019" cy="55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6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A1F3CD47-5958-B73C-1811-C2426BEF06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31DDB43-C879-3942-7D37-BD702997E18E}"/>
              </a:ext>
            </a:extLst>
          </p:cNvPr>
          <p:cNvSpPr txBox="1"/>
          <p:nvPr/>
        </p:nvSpPr>
        <p:spPr>
          <a:xfrm>
            <a:off x="4312127" y="634211"/>
            <a:ext cx="8933495" cy="104943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pt-BR" sz="5400" spc="600" dirty="0">
                <a:solidFill>
                  <a:schemeClr val="accent2"/>
                </a:solidFill>
                <a:latin typeface="Gobold Extra2" panose="02000500000000000000" pitchFamily="2" charset="0"/>
                <a:ea typeface="Atyp Display" pitchFamily="2" charset="0"/>
              </a:rPr>
              <a:t>PAINEL DEMOGRÁFICO</a:t>
            </a:r>
          </a:p>
        </p:txBody>
      </p:sp>
      <p:cxnSp>
        <p:nvCxnSpPr>
          <p:cNvPr id="10" name="Conector reto 56">
            <a:extLst>
              <a:ext uri="{FF2B5EF4-FFF2-40B4-BE49-F238E27FC236}">
                <a16:creationId xmlns:a16="http://schemas.microsoft.com/office/drawing/2014/main" id="{655412B7-1460-2188-D834-AE27517BFF7D}"/>
              </a:ext>
            </a:extLst>
          </p:cNvPr>
          <p:cNvCxnSpPr>
            <a:cxnSpLocks/>
          </p:cNvCxnSpPr>
          <p:nvPr/>
        </p:nvCxnSpPr>
        <p:spPr>
          <a:xfrm>
            <a:off x="6120880" y="2162982"/>
            <a:ext cx="0" cy="7130174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DD0BFB67-60A8-BBFF-3BAD-C03FF44D0D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390" t="51031" r="63448" b="16444"/>
          <a:stretch/>
        </p:blipFill>
        <p:spPr>
          <a:xfrm>
            <a:off x="8583945" y="3582218"/>
            <a:ext cx="1166894" cy="157076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19A4659-42E3-B49D-7A7C-2DEB954B5141}"/>
              </a:ext>
            </a:extLst>
          </p:cNvPr>
          <p:cNvSpPr txBox="1"/>
          <p:nvPr/>
        </p:nvSpPr>
        <p:spPr>
          <a:xfrm>
            <a:off x="9696636" y="4536283"/>
            <a:ext cx="1343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C000"/>
                </a:solidFill>
                <a:latin typeface="Atyp Display Semibold" pitchFamily="2" charset="0"/>
                <a:ea typeface="Atyp Display Semibold" pitchFamily="2" charset="0"/>
              </a:rPr>
              <a:t>40%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DF7BA0F-DB80-3538-DE46-4A5F4CDA1C47}"/>
              </a:ext>
            </a:extLst>
          </p:cNvPr>
          <p:cNvSpPr txBox="1"/>
          <p:nvPr/>
        </p:nvSpPr>
        <p:spPr>
          <a:xfrm>
            <a:off x="9664066" y="3856838"/>
            <a:ext cx="12688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typ Display" pitchFamily="2" charset="0"/>
                <a:ea typeface="Atyp Display" pitchFamily="2" charset="0"/>
              </a:rPr>
              <a:t>Feminino (14)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DD6807C-1983-B361-18AC-9B64081CF9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390" t="17331" r="63448" b="50144"/>
          <a:stretch/>
        </p:blipFill>
        <p:spPr>
          <a:xfrm>
            <a:off x="7863865" y="3064058"/>
            <a:ext cx="1166894" cy="157076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24EF860-CA96-4EF8-11C6-D0A701C356C9}"/>
              </a:ext>
            </a:extLst>
          </p:cNvPr>
          <p:cNvSpPr txBox="1"/>
          <p:nvPr/>
        </p:nvSpPr>
        <p:spPr>
          <a:xfrm>
            <a:off x="6505161" y="4013408"/>
            <a:ext cx="1488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>
                <a:solidFill>
                  <a:schemeClr val="accent2"/>
                </a:solidFill>
                <a:latin typeface="Atyp Display Semibold" pitchFamily="2" charset="0"/>
                <a:ea typeface="Atyp Display Semibold" pitchFamily="2" charset="0"/>
              </a:rPr>
              <a:t>60%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C03AE7-ACEE-E0FD-586B-4E661F42D2B5}"/>
              </a:ext>
            </a:extLst>
          </p:cNvPr>
          <p:cNvSpPr txBox="1"/>
          <p:nvPr/>
        </p:nvSpPr>
        <p:spPr>
          <a:xfrm>
            <a:off x="6599641" y="3338678"/>
            <a:ext cx="1394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typ Display" pitchFamily="2" charset="0"/>
                <a:ea typeface="Atyp Display" pitchFamily="2" charset="0"/>
              </a:rPr>
              <a:t>Masculino</a:t>
            </a:r>
          </a:p>
          <a:p>
            <a:pPr algn="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typ Display" pitchFamily="2" charset="0"/>
                <a:ea typeface="Atyp Display" pitchFamily="2" charset="0"/>
              </a:rPr>
              <a:t>(21)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A5D5F59-BEC1-F4DA-086E-7F2AB5BABC69}"/>
              </a:ext>
            </a:extLst>
          </p:cNvPr>
          <p:cNvSpPr txBox="1"/>
          <p:nvPr/>
        </p:nvSpPr>
        <p:spPr>
          <a:xfrm>
            <a:off x="1719275" y="2080984"/>
            <a:ext cx="2623334" cy="76158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pt-BR" sz="2400" dirty="0">
                <a:solidFill>
                  <a:schemeClr val="accent2"/>
                </a:solidFill>
                <a:latin typeface="Gobold Extra2" panose="02000500000000000000" pitchFamily="2" charset="0"/>
                <a:ea typeface="Atyp Display" pitchFamily="2" charset="0"/>
              </a:rPr>
              <a:t>TITULARIDADE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4A482CC-2796-24B0-4ED1-B19DE4F856B7}"/>
              </a:ext>
            </a:extLst>
          </p:cNvPr>
          <p:cNvSpPr txBox="1"/>
          <p:nvPr/>
        </p:nvSpPr>
        <p:spPr>
          <a:xfrm>
            <a:off x="7708799" y="2080984"/>
            <a:ext cx="2139638" cy="76158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pt-BR" sz="2400" dirty="0">
                <a:solidFill>
                  <a:schemeClr val="accent2"/>
                </a:solidFill>
                <a:latin typeface="Gobold Extra2" panose="02000500000000000000" pitchFamily="2" charset="0"/>
                <a:ea typeface="Atyp Display" pitchFamily="2" charset="0"/>
              </a:rPr>
              <a:t>GÊNERO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39E1D38-DA03-4CAE-1933-CFB0D166BB0E}"/>
              </a:ext>
            </a:extLst>
          </p:cNvPr>
          <p:cNvSpPr txBox="1"/>
          <p:nvPr/>
        </p:nvSpPr>
        <p:spPr>
          <a:xfrm>
            <a:off x="13239910" y="2082416"/>
            <a:ext cx="2623334" cy="76158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pt-BR" sz="2400" dirty="0">
                <a:solidFill>
                  <a:schemeClr val="accent2"/>
                </a:solidFill>
                <a:latin typeface="Gobold Extra2" panose="02000500000000000000" pitchFamily="2" charset="0"/>
                <a:ea typeface="Atyp Display" pitchFamily="2" charset="0"/>
              </a:rPr>
              <a:t>GRUPO SEGURADO</a:t>
            </a:r>
          </a:p>
        </p:txBody>
      </p:sp>
      <p:cxnSp>
        <p:nvCxnSpPr>
          <p:cNvPr id="29" name="Conector reto 56">
            <a:extLst>
              <a:ext uri="{FF2B5EF4-FFF2-40B4-BE49-F238E27FC236}">
                <a16:creationId xmlns:a16="http://schemas.microsoft.com/office/drawing/2014/main" id="{0FFC9B48-48C7-A0D1-12E3-F2F70C9E8C95}"/>
              </a:ext>
            </a:extLst>
          </p:cNvPr>
          <p:cNvCxnSpPr>
            <a:cxnSpLocks/>
          </p:cNvCxnSpPr>
          <p:nvPr/>
        </p:nvCxnSpPr>
        <p:spPr>
          <a:xfrm>
            <a:off x="11424400" y="2162982"/>
            <a:ext cx="0" cy="7130174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BF4AE2B-B08D-9384-168E-127D3336637C}"/>
              </a:ext>
            </a:extLst>
          </p:cNvPr>
          <p:cNvSpPr txBox="1"/>
          <p:nvPr/>
        </p:nvSpPr>
        <p:spPr>
          <a:xfrm>
            <a:off x="7422373" y="5318503"/>
            <a:ext cx="2712491" cy="76158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pt-BR" sz="2400" dirty="0">
                <a:solidFill>
                  <a:schemeClr val="accent2"/>
                </a:solidFill>
                <a:latin typeface="Gobold Extra2" panose="02000500000000000000" pitchFamily="2" charset="0"/>
                <a:ea typeface="Atyp Display" pitchFamily="2" charset="0"/>
              </a:rPr>
              <a:t>DISTRIBUIÇÃO ETÁRIA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DC704738-DF91-5B03-7104-0BBC5A83B9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4" y="8923098"/>
            <a:ext cx="1491019" cy="550271"/>
          </a:xfrm>
          <a:prstGeom prst="rect">
            <a:avLst/>
          </a:prstGeom>
        </p:spPr>
      </p:pic>
      <p:graphicFrame>
        <p:nvGraphicFramePr>
          <p:cNvPr id="22" name="Gráfico 21">
            <a:extLst>
              <a:ext uri="{FF2B5EF4-FFF2-40B4-BE49-F238E27FC236}">
                <a16:creationId xmlns:a16="http://schemas.microsoft.com/office/drawing/2014/main" id="{00000000-0008-0000-01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6194710"/>
              </p:ext>
            </p:extLst>
          </p:nvPr>
        </p:nvGraphicFramePr>
        <p:xfrm>
          <a:off x="623213" y="3864624"/>
          <a:ext cx="4815459" cy="3240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Gráfico 22">
            <a:extLst>
              <a:ext uri="{FF2B5EF4-FFF2-40B4-BE49-F238E27FC236}">
                <a16:creationId xmlns:a16="http://schemas.microsoft.com/office/drawing/2014/main" id="{00000000-0008-0000-02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8115211"/>
              </p:ext>
            </p:extLst>
          </p:nvPr>
        </p:nvGraphicFramePr>
        <p:xfrm>
          <a:off x="6441183" y="6115636"/>
          <a:ext cx="4674870" cy="3148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4" name="Gráfico 23">
            <a:extLst>
              <a:ext uri="{FF2B5EF4-FFF2-40B4-BE49-F238E27FC236}">
                <a16:creationId xmlns:a16="http://schemas.microsoft.com/office/drawing/2014/main" id="{79BEAB6B-C0EE-497A-A13F-C4A4E5D74D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551994"/>
              </p:ext>
            </p:extLst>
          </p:nvPr>
        </p:nvGraphicFramePr>
        <p:xfrm>
          <a:off x="11768372" y="3036769"/>
          <a:ext cx="5566410" cy="263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71556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554222" cy="987425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E142087-2D59-4D14-88AC-B1FC3D0FE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267" y="606119"/>
            <a:ext cx="1078363" cy="1617545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4DD6390A-296A-48C7-BC18-440666B5CA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7241" y="565162"/>
            <a:ext cx="1491019" cy="55027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879606" y="329285"/>
            <a:ext cx="11463336" cy="101449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500" spc="600" dirty="0">
                <a:solidFill>
                  <a:srgbClr val="0141B6"/>
                </a:solidFill>
                <a:latin typeface="Gobold Extra2" panose="02000500000000000000" pitchFamily="2" charset="0"/>
                <a:ea typeface="Atyp Display" pitchFamily="2" charset="0"/>
              </a:rPr>
              <a:t>INVESTIMENTO FINANCEIRO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7F15E6-AE5B-A4D9-F938-4A7B9439A72D}"/>
              </a:ext>
            </a:extLst>
          </p:cNvPr>
          <p:cNvSpPr txBox="1"/>
          <p:nvPr/>
        </p:nvSpPr>
        <p:spPr>
          <a:xfrm>
            <a:off x="882905" y="9405158"/>
            <a:ext cx="2051874" cy="29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9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* Com coparticipação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3487B6F-3921-30A0-9F4F-DF1EC07CE0B3}"/>
              </a:ext>
            </a:extLst>
          </p:cNvPr>
          <p:cNvSpPr txBox="1"/>
          <p:nvPr/>
        </p:nvSpPr>
        <p:spPr>
          <a:xfrm>
            <a:off x="11645205" y="9403106"/>
            <a:ext cx="5055706" cy="29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9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* Valores sujeitos à alteração após análise da documentação. </a:t>
            </a:r>
          </a:p>
        </p:txBody>
      </p:sp>
      <p:sp>
        <p:nvSpPr>
          <p:cNvPr id="73" name="Retângulo: Cantos Arredondados 57">
            <a:extLst>
              <a:ext uri="{FF2B5EF4-FFF2-40B4-BE49-F238E27FC236}">
                <a16:creationId xmlns:a16="http://schemas.microsoft.com/office/drawing/2014/main" id="{14183B4D-E73F-23C5-CC4F-BB1181CB543E}"/>
              </a:ext>
            </a:extLst>
          </p:cNvPr>
          <p:cNvSpPr/>
          <p:nvPr/>
        </p:nvSpPr>
        <p:spPr>
          <a:xfrm>
            <a:off x="2524024" y="2294983"/>
            <a:ext cx="2488207" cy="4969646"/>
          </a:xfrm>
          <a:prstGeom prst="roundRect">
            <a:avLst>
              <a:gd name="adj" fmla="val 6359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74" name="Rounded Rectangular Callout 1">
            <a:extLst>
              <a:ext uri="{FF2B5EF4-FFF2-40B4-BE49-F238E27FC236}">
                <a16:creationId xmlns:a16="http://schemas.microsoft.com/office/drawing/2014/main" id="{FF488DE0-6026-4A2C-CE2E-3E6628878B7E}"/>
              </a:ext>
            </a:extLst>
          </p:cNvPr>
          <p:cNvSpPr/>
          <p:nvPr/>
        </p:nvSpPr>
        <p:spPr>
          <a:xfrm>
            <a:off x="2631801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75" name="CaixaDeTexto 6">
            <a:extLst>
              <a:ext uri="{FF2B5EF4-FFF2-40B4-BE49-F238E27FC236}">
                <a16:creationId xmlns:a16="http://schemas.microsoft.com/office/drawing/2014/main" id="{2D7DE679-84BA-CE99-CB78-A41A9F698811}"/>
              </a:ext>
            </a:extLst>
          </p:cNvPr>
          <p:cNvSpPr txBox="1"/>
          <p:nvPr/>
        </p:nvSpPr>
        <p:spPr>
          <a:xfrm>
            <a:off x="2532178" y="4355029"/>
            <a:ext cx="2471899" cy="10636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JUL</a:t>
            </a:r>
          </a:p>
          <a:p>
            <a:pPr algn="ctr"/>
            <a:r>
              <a:rPr lang="pt-BR" sz="3456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2026</a:t>
            </a:r>
          </a:p>
        </p:txBody>
      </p:sp>
      <p:sp>
        <p:nvSpPr>
          <p:cNvPr id="76" name="CaixaDeTexto 7">
            <a:extLst>
              <a:ext uri="{FF2B5EF4-FFF2-40B4-BE49-F238E27FC236}">
                <a16:creationId xmlns:a16="http://schemas.microsoft.com/office/drawing/2014/main" id="{5739F676-1976-7081-0C7A-EBBE5B0B4642}"/>
              </a:ext>
            </a:extLst>
          </p:cNvPr>
          <p:cNvSpPr txBox="1"/>
          <p:nvPr/>
        </p:nvSpPr>
        <p:spPr>
          <a:xfrm>
            <a:off x="2518149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rgbClr val="FFFF00"/>
                </a:solidFill>
                <a:latin typeface="Aptos" panose="020B0004020202020204" pitchFamily="34" charset="0"/>
                <a:ea typeface="Atyp Display" pitchFamily="2" charset="0"/>
              </a:rPr>
              <a:t>R$70.000</a:t>
            </a:r>
          </a:p>
        </p:txBody>
      </p:sp>
      <p:sp>
        <p:nvSpPr>
          <p:cNvPr id="77" name="CaixaDeTexto 8">
            <a:extLst>
              <a:ext uri="{FF2B5EF4-FFF2-40B4-BE49-F238E27FC236}">
                <a16:creationId xmlns:a16="http://schemas.microsoft.com/office/drawing/2014/main" id="{4359F750-9DEF-E913-DBB7-D890FB70D937}"/>
              </a:ext>
            </a:extLst>
          </p:cNvPr>
          <p:cNvSpPr txBox="1"/>
          <p:nvPr/>
        </p:nvSpPr>
        <p:spPr>
          <a:xfrm>
            <a:off x="2852139" y="7389073"/>
            <a:ext cx="183197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Total de Vidas: 35</a:t>
            </a:r>
          </a:p>
        </p:txBody>
      </p:sp>
      <p:sp>
        <p:nvSpPr>
          <p:cNvPr id="84" name="Retângulo: Cantos Arredondados 3">
            <a:extLst>
              <a:ext uri="{FF2B5EF4-FFF2-40B4-BE49-F238E27FC236}">
                <a16:creationId xmlns:a16="http://schemas.microsoft.com/office/drawing/2014/main" id="{8B55134A-A97B-2A56-56C7-A9D79A2C47EF}"/>
              </a:ext>
            </a:extLst>
          </p:cNvPr>
          <p:cNvSpPr/>
          <p:nvPr/>
        </p:nvSpPr>
        <p:spPr>
          <a:xfrm>
            <a:off x="5270345" y="2294983"/>
            <a:ext cx="2488207" cy="4969646"/>
          </a:xfrm>
          <a:prstGeom prst="roundRect">
            <a:avLst>
              <a:gd name="adj" fmla="val 361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85" name="Rounded Rectangular Callout 20">
            <a:extLst>
              <a:ext uri="{FF2B5EF4-FFF2-40B4-BE49-F238E27FC236}">
                <a16:creationId xmlns:a16="http://schemas.microsoft.com/office/drawing/2014/main" id="{0FB4AB6D-8B92-528D-7E23-B2DB8B130E07}"/>
              </a:ext>
            </a:extLst>
          </p:cNvPr>
          <p:cNvSpPr/>
          <p:nvPr/>
        </p:nvSpPr>
        <p:spPr>
          <a:xfrm>
            <a:off x="5378122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86" name="CaixaDeTexto 7">
            <a:extLst>
              <a:ext uri="{FF2B5EF4-FFF2-40B4-BE49-F238E27FC236}">
                <a16:creationId xmlns:a16="http://schemas.microsoft.com/office/drawing/2014/main" id="{E31EA273-A70E-8BA5-8521-B6D4F4E346C5}"/>
              </a:ext>
            </a:extLst>
          </p:cNvPr>
          <p:cNvSpPr txBox="1"/>
          <p:nvPr/>
        </p:nvSpPr>
        <p:spPr>
          <a:xfrm>
            <a:off x="5264470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rgbClr val="FFFF00"/>
                </a:solidFill>
                <a:latin typeface="Aptos" panose="020B0004020202020204" pitchFamily="34" charset="0"/>
                <a:ea typeface="Atyp Display" pitchFamily="2" charset="0"/>
              </a:rPr>
              <a:t>R$28.305</a:t>
            </a:r>
          </a:p>
        </p:txBody>
      </p:sp>
      <p:sp>
        <p:nvSpPr>
          <p:cNvPr id="87" name="CaixaDeTexto 8">
            <a:extLst>
              <a:ext uri="{FF2B5EF4-FFF2-40B4-BE49-F238E27FC236}">
                <a16:creationId xmlns:a16="http://schemas.microsoft.com/office/drawing/2014/main" id="{0D685F68-A927-ABB2-E98F-E5E73B330140}"/>
              </a:ext>
            </a:extLst>
          </p:cNvPr>
          <p:cNvSpPr txBox="1"/>
          <p:nvPr/>
        </p:nvSpPr>
        <p:spPr>
          <a:xfrm>
            <a:off x="5380448" y="7389073"/>
            <a:ext cx="2268000" cy="186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telemedicina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prof. dedicado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enfermeira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tecnologia exclusiva</a:t>
            </a:r>
          </a:p>
          <a:p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BigData</a:t>
            </a:r>
            <a:endParaRPr lang="pt-BR" sz="20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Atyp Display" pitchFamily="2" charset="0"/>
            </a:endParaRPr>
          </a:p>
        </p:txBody>
      </p:sp>
      <p:sp>
        <p:nvSpPr>
          <p:cNvPr id="88" name="Retângulo: Cantos Arredondados 3">
            <a:extLst>
              <a:ext uri="{FF2B5EF4-FFF2-40B4-BE49-F238E27FC236}">
                <a16:creationId xmlns:a16="http://schemas.microsoft.com/office/drawing/2014/main" id="{AEF67C97-EED5-6340-141D-4F2995B82828}"/>
              </a:ext>
            </a:extLst>
          </p:cNvPr>
          <p:cNvSpPr/>
          <p:nvPr/>
        </p:nvSpPr>
        <p:spPr>
          <a:xfrm>
            <a:off x="8023165" y="2294983"/>
            <a:ext cx="2488207" cy="4969646"/>
          </a:xfrm>
          <a:prstGeom prst="roundRect">
            <a:avLst>
              <a:gd name="adj" fmla="val 4985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89" name="Rounded Rectangular Callout 28">
            <a:extLst>
              <a:ext uri="{FF2B5EF4-FFF2-40B4-BE49-F238E27FC236}">
                <a16:creationId xmlns:a16="http://schemas.microsoft.com/office/drawing/2014/main" id="{B6BDD7E9-55CD-C545-1609-17D307DF2584}"/>
              </a:ext>
            </a:extLst>
          </p:cNvPr>
          <p:cNvSpPr/>
          <p:nvPr/>
        </p:nvSpPr>
        <p:spPr>
          <a:xfrm>
            <a:off x="8130942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90" name="Retângulo Arredondado 25">
            <a:extLst>
              <a:ext uri="{FF2B5EF4-FFF2-40B4-BE49-F238E27FC236}">
                <a16:creationId xmlns:a16="http://schemas.microsoft.com/office/drawing/2014/main" id="{F2B23F86-21FF-7502-E04F-0F4CB1C3A74A}"/>
              </a:ext>
            </a:extLst>
          </p:cNvPr>
          <p:cNvSpPr/>
          <p:nvPr/>
        </p:nvSpPr>
        <p:spPr>
          <a:xfrm>
            <a:off x="5388212" y="4484655"/>
            <a:ext cx="2252472" cy="80437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solidFill>
                <a:srgbClr val="C00000"/>
              </a:solidFill>
              <a:highlight>
                <a:srgbClr val="CE1C30"/>
              </a:highlight>
              <a:latin typeface="Aptos" panose="020B0004020202020204" pitchFamily="34" charset="0"/>
            </a:endParaRPr>
          </a:p>
        </p:txBody>
      </p:sp>
      <p:sp>
        <p:nvSpPr>
          <p:cNvPr id="91" name="CaixaDeTexto 14">
            <a:extLst>
              <a:ext uri="{FF2B5EF4-FFF2-40B4-BE49-F238E27FC236}">
                <a16:creationId xmlns:a16="http://schemas.microsoft.com/office/drawing/2014/main" id="{E64DE4CF-47A2-D7DC-7159-CE0F143D79CE}"/>
              </a:ext>
            </a:extLst>
          </p:cNvPr>
          <p:cNvSpPr txBox="1"/>
          <p:nvPr/>
        </p:nvSpPr>
        <p:spPr>
          <a:xfrm>
            <a:off x="5623579" y="4620935"/>
            <a:ext cx="1781739" cy="531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-60%</a:t>
            </a:r>
          </a:p>
        </p:txBody>
      </p:sp>
      <p:sp>
        <p:nvSpPr>
          <p:cNvPr id="92" name="CaixaDeTexto 7">
            <a:extLst>
              <a:ext uri="{FF2B5EF4-FFF2-40B4-BE49-F238E27FC236}">
                <a16:creationId xmlns:a16="http://schemas.microsoft.com/office/drawing/2014/main" id="{59CC2548-A377-0840-5DAE-0D5A47DEE090}"/>
              </a:ext>
            </a:extLst>
          </p:cNvPr>
          <p:cNvSpPr txBox="1"/>
          <p:nvPr/>
        </p:nvSpPr>
        <p:spPr>
          <a:xfrm>
            <a:off x="8017290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R$29.706</a:t>
            </a:r>
          </a:p>
        </p:txBody>
      </p:sp>
      <p:sp>
        <p:nvSpPr>
          <p:cNvPr id="94" name="Retângulo Arredondado 25">
            <a:extLst>
              <a:ext uri="{FF2B5EF4-FFF2-40B4-BE49-F238E27FC236}">
                <a16:creationId xmlns:a16="http://schemas.microsoft.com/office/drawing/2014/main" id="{D73611DD-7F15-CC18-E5F1-E4BF704D0930}"/>
              </a:ext>
            </a:extLst>
          </p:cNvPr>
          <p:cNvSpPr/>
          <p:nvPr/>
        </p:nvSpPr>
        <p:spPr>
          <a:xfrm>
            <a:off x="8141032" y="4484655"/>
            <a:ext cx="2252472" cy="80437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solidFill>
                <a:srgbClr val="C00000"/>
              </a:solidFill>
              <a:highlight>
                <a:srgbClr val="CE1C30"/>
              </a:highlight>
              <a:latin typeface="Aptos" panose="020B0004020202020204" pitchFamily="34" charset="0"/>
            </a:endParaRPr>
          </a:p>
        </p:txBody>
      </p:sp>
      <p:sp>
        <p:nvSpPr>
          <p:cNvPr id="95" name="CaixaDeTexto 14">
            <a:extLst>
              <a:ext uri="{FF2B5EF4-FFF2-40B4-BE49-F238E27FC236}">
                <a16:creationId xmlns:a16="http://schemas.microsoft.com/office/drawing/2014/main" id="{B11371D9-DF75-9827-5B40-FB2DAC95EA8C}"/>
              </a:ext>
            </a:extLst>
          </p:cNvPr>
          <p:cNvSpPr txBox="1"/>
          <p:nvPr/>
        </p:nvSpPr>
        <p:spPr>
          <a:xfrm>
            <a:off x="8189316" y="4620935"/>
            <a:ext cx="2155905" cy="531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-58%</a:t>
            </a:r>
          </a:p>
        </p:txBody>
      </p:sp>
      <p:sp>
        <p:nvSpPr>
          <p:cNvPr id="96" name="Retângulo: Cantos Arredondados 3">
            <a:extLst>
              <a:ext uri="{FF2B5EF4-FFF2-40B4-BE49-F238E27FC236}">
                <a16:creationId xmlns:a16="http://schemas.microsoft.com/office/drawing/2014/main" id="{AAAF250E-AE82-6EA5-1278-E419C23130B5}"/>
              </a:ext>
            </a:extLst>
          </p:cNvPr>
          <p:cNvSpPr/>
          <p:nvPr/>
        </p:nvSpPr>
        <p:spPr>
          <a:xfrm>
            <a:off x="10741791" y="2294983"/>
            <a:ext cx="2488207" cy="4969646"/>
          </a:xfrm>
          <a:prstGeom prst="roundRect">
            <a:avLst>
              <a:gd name="adj" fmla="val 4298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97" name="Rounded Rectangular Callout 64">
            <a:extLst>
              <a:ext uri="{FF2B5EF4-FFF2-40B4-BE49-F238E27FC236}">
                <a16:creationId xmlns:a16="http://schemas.microsoft.com/office/drawing/2014/main" id="{4D2BC5B6-6D52-5422-5AC6-E493AEA0B3C1}"/>
              </a:ext>
            </a:extLst>
          </p:cNvPr>
          <p:cNvSpPr/>
          <p:nvPr/>
        </p:nvSpPr>
        <p:spPr>
          <a:xfrm>
            <a:off x="10849568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98" name="CaixaDeTexto 5">
            <a:extLst>
              <a:ext uri="{FF2B5EF4-FFF2-40B4-BE49-F238E27FC236}">
                <a16:creationId xmlns:a16="http://schemas.microsoft.com/office/drawing/2014/main" id="{FB0FED6A-3FD9-8FAA-322D-235EE2790492}"/>
              </a:ext>
            </a:extLst>
          </p:cNvPr>
          <p:cNvSpPr txBox="1"/>
          <p:nvPr/>
        </p:nvSpPr>
        <p:spPr>
          <a:xfrm>
            <a:off x="11015732" y="3581631"/>
            <a:ext cx="1940325" cy="35458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+ Opções </a:t>
            </a:r>
          </a:p>
        </p:txBody>
      </p:sp>
      <p:sp>
        <p:nvSpPr>
          <p:cNvPr id="99" name="CaixaDeTexto 7">
            <a:extLst>
              <a:ext uri="{FF2B5EF4-FFF2-40B4-BE49-F238E27FC236}">
                <a16:creationId xmlns:a16="http://schemas.microsoft.com/office/drawing/2014/main" id="{495B475D-892F-9BFE-C94F-DA191E1DAEDD}"/>
              </a:ext>
            </a:extLst>
          </p:cNvPr>
          <p:cNvSpPr txBox="1"/>
          <p:nvPr/>
        </p:nvSpPr>
        <p:spPr>
          <a:xfrm>
            <a:off x="10735916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R$32.376</a:t>
            </a:r>
          </a:p>
        </p:txBody>
      </p:sp>
      <p:sp>
        <p:nvSpPr>
          <p:cNvPr id="100" name="Retângulo: Cantos Arredondados 3">
            <a:extLst>
              <a:ext uri="{FF2B5EF4-FFF2-40B4-BE49-F238E27FC236}">
                <a16:creationId xmlns:a16="http://schemas.microsoft.com/office/drawing/2014/main" id="{D66F2035-191C-6B21-E096-34CEE583099D}"/>
              </a:ext>
            </a:extLst>
          </p:cNvPr>
          <p:cNvSpPr/>
          <p:nvPr/>
        </p:nvSpPr>
        <p:spPr>
          <a:xfrm>
            <a:off x="13495091" y="2294983"/>
            <a:ext cx="2488207" cy="4969646"/>
          </a:xfrm>
          <a:prstGeom prst="roundRect">
            <a:avLst>
              <a:gd name="adj" fmla="val 5672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101" name="Rounded Rectangular Callout 69">
            <a:extLst>
              <a:ext uri="{FF2B5EF4-FFF2-40B4-BE49-F238E27FC236}">
                <a16:creationId xmlns:a16="http://schemas.microsoft.com/office/drawing/2014/main" id="{057B663C-913B-45E3-B9F5-0D91BD63FF6C}"/>
              </a:ext>
            </a:extLst>
          </p:cNvPr>
          <p:cNvSpPr/>
          <p:nvPr/>
        </p:nvSpPr>
        <p:spPr>
          <a:xfrm>
            <a:off x="13602868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102" name="Retângulo Arredondado 25">
            <a:extLst>
              <a:ext uri="{FF2B5EF4-FFF2-40B4-BE49-F238E27FC236}">
                <a16:creationId xmlns:a16="http://schemas.microsoft.com/office/drawing/2014/main" id="{DDE91091-0D2F-A2CC-6624-5DC2DBF98608}"/>
              </a:ext>
            </a:extLst>
          </p:cNvPr>
          <p:cNvSpPr/>
          <p:nvPr/>
        </p:nvSpPr>
        <p:spPr>
          <a:xfrm>
            <a:off x="10859658" y="4484655"/>
            <a:ext cx="2252472" cy="80437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solidFill>
                <a:srgbClr val="C00000"/>
              </a:solidFill>
              <a:highlight>
                <a:srgbClr val="CE1C30"/>
              </a:highlight>
              <a:latin typeface="Aptos" panose="020B0004020202020204" pitchFamily="34" charset="0"/>
            </a:endParaRPr>
          </a:p>
        </p:txBody>
      </p:sp>
      <p:sp>
        <p:nvSpPr>
          <p:cNvPr id="103" name="CaixaDeTexto 14">
            <a:extLst>
              <a:ext uri="{FF2B5EF4-FFF2-40B4-BE49-F238E27FC236}">
                <a16:creationId xmlns:a16="http://schemas.microsoft.com/office/drawing/2014/main" id="{113C1ADD-AF7A-93A7-1FDB-B181F69CD8A1}"/>
              </a:ext>
            </a:extLst>
          </p:cNvPr>
          <p:cNvSpPr txBox="1"/>
          <p:nvPr/>
        </p:nvSpPr>
        <p:spPr>
          <a:xfrm>
            <a:off x="11005938" y="4620935"/>
            <a:ext cx="1959913" cy="531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-54%</a:t>
            </a:r>
          </a:p>
        </p:txBody>
      </p:sp>
      <p:sp>
        <p:nvSpPr>
          <p:cNvPr id="104" name="CaixaDeTexto 5">
            <a:extLst>
              <a:ext uri="{FF2B5EF4-FFF2-40B4-BE49-F238E27FC236}">
                <a16:creationId xmlns:a16="http://schemas.microsoft.com/office/drawing/2014/main" id="{DC8BBCBD-C809-2B1A-3DFB-7A0861FC83C2}"/>
              </a:ext>
            </a:extLst>
          </p:cNvPr>
          <p:cNvSpPr txBox="1"/>
          <p:nvPr/>
        </p:nvSpPr>
        <p:spPr>
          <a:xfrm>
            <a:off x="13769032" y="3581631"/>
            <a:ext cx="1940325" cy="35458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+ Opções </a:t>
            </a:r>
          </a:p>
        </p:txBody>
      </p:sp>
      <p:sp>
        <p:nvSpPr>
          <p:cNvPr id="105" name="CaixaDeTexto 7">
            <a:extLst>
              <a:ext uri="{FF2B5EF4-FFF2-40B4-BE49-F238E27FC236}">
                <a16:creationId xmlns:a16="http://schemas.microsoft.com/office/drawing/2014/main" id="{E2100F9E-D4F4-4DE5-F17A-631770422B5F}"/>
              </a:ext>
            </a:extLst>
          </p:cNvPr>
          <p:cNvSpPr txBox="1"/>
          <p:nvPr/>
        </p:nvSpPr>
        <p:spPr>
          <a:xfrm>
            <a:off x="13489216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R$36.074</a:t>
            </a:r>
          </a:p>
        </p:txBody>
      </p:sp>
      <p:sp>
        <p:nvSpPr>
          <p:cNvPr id="108" name="CaixaDeTexto 5">
            <a:extLst>
              <a:ext uri="{FF2B5EF4-FFF2-40B4-BE49-F238E27FC236}">
                <a16:creationId xmlns:a16="http://schemas.microsoft.com/office/drawing/2014/main" id="{1F2B5C16-D778-79A0-A922-4936D8F27F3C}"/>
              </a:ext>
            </a:extLst>
          </p:cNvPr>
          <p:cNvSpPr txBox="1"/>
          <p:nvPr/>
        </p:nvSpPr>
        <p:spPr>
          <a:xfrm>
            <a:off x="2797965" y="3404339"/>
            <a:ext cx="1940325" cy="70916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Faturamento Mensal</a:t>
            </a:r>
          </a:p>
        </p:txBody>
      </p:sp>
      <p:sp>
        <p:nvSpPr>
          <p:cNvPr id="110" name="CaixaDeTexto 5">
            <a:extLst>
              <a:ext uri="{FF2B5EF4-FFF2-40B4-BE49-F238E27FC236}">
                <a16:creationId xmlns:a16="http://schemas.microsoft.com/office/drawing/2014/main" id="{B545E2E0-C88B-87D1-06B8-E8086B536C8B}"/>
              </a:ext>
            </a:extLst>
          </p:cNvPr>
          <p:cNvSpPr txBox="1"/>
          <p:nvPr/>
        </p:nvSpPr>
        <p:spPr>
          <a:xfrm>
            <a:off x="5544286" y="3581631"/>
            <a:ext cx="1940325" cy="35458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Menor Custo </a:t>
            </a:r>
          </a:p>
        </p:txBody>
      </p:sp>
      <p:sp>
        <p:nvSpPr>
          <p:cNvPr id="111" name="CaixaDeTexto 5">
            <a:extLst>
              <a:ext uri="{FF2B5EF4-FFF2-40B4-BE49-F238E27FC236}">
                <a16:creationId xmlns:a16="http://schemas.microsoft.com/office/drawing/2014/main" id="{3E9DBCF0-5E4E-748B-60E0-3CE0338D1FEE}"/>
              </a:ext>
            </a:extLst>
          </p:cNvPr>
          <p:cNvSpPr txBox="1"/>
          <p:nvPr/>
        </p:nvSpPr>
        <p:spPr>
          <a:xfrm>
            <a:off x="8297106" y="3581631"/>
            <a:ext cx="1940325" cy="35458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+ Opções </a:t>
            </a:r>
          </a:p>
        </p:txBody>
      </p:sp>
      <p:sp>
        <p:nvSpPr>
          <p:cNvPr id="112" name="CaixaDeTexto 5">
            <a:extLst>
              <a:ext uri="{FF2B5EF4-FFF2-40B4-BE49-F238E27FC236}">
                <a16:creationId xmlns:a16="http://schemas.microsoft.com/office/drawing/2014/main" id="{4F49373A-70BC-D9FF-9407-CC54F58311C4}"/>
              </a:ext>
            </a:extLst>
          </p:cNvPr>
          <p:cNvSpPr txBox="1"/>
          <p:nvPr/>
        </p:nvSpPr>
        <p:spPr>
          <a:xfrm>
            <a:off x="10741791" y="6380456"/>
            <a:ext cx="2488207" cy="709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Redução Mensal</a:t>
            </a:r>
          </a:p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 R$37.624</a:t>
            </a:r>
          </a:p>
        </p:txBody>
      </p:sp>
      <p:sp>
        <p:nvSpPr>
          <p:cNvPr id="113" name="CaixaDeTexto 5">
            <a:extLst>
              <a:ext uri="{FF2B5EF4-FFF2-40B4-BE49-F238E27FC236}">
                <a16:creationId xmlns:a16="http://schemas.microsoft.com/office/drawing/2014/main" id="{B8DCE30E-6EF4-6D0B-2806-BC576D6F7DDE}"/>
              </a:ext>
            </a:extLst>
          </p:cNvPr>
          <p:cNvSpPr txBox="1"/>
          <p:nvPr/>
        </p:nvSpPr>
        <p:spPr>
          <a:xfrm>
            <a:off x="8023165" y="6380456"/>
            <a:ext cx="2488207" cy="709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Redução Mensal</a:t>
            </a:r>
          </a:p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 R$40.294</a:t>
            </a:r>
          </a:p>
        </p:txBody>
      </p:sp>
      <p:sp>
        <p:nvSpPr>
          <p:cNvPr id="114" name="CaixaDeTexto 5">
            <a:extLst>
              <a:ext uri="{FF2B5EF4-FFF2-40B4-BE49-F238E27FC236}">
                <a16:creationId xmlns:a16="http://schemas.microsoft.com/office/drawing/2014/main" id="{D800146F-981F-7575-36F0-DC2955A08CD5}"/>
              </a:ext>
            </a:extLst>
          </p:cNvPr>
          <p:cNvSpPr txBox="1"/>
          <p:nvPr/>
        </p:nvSpPr>
        <p:spPr>
          <a:xfrm>
            <a:off x="5270345" y="6380456"/>
            <a:ext cx="2488207" cy="709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Redução Mensal</a:t>
            </a:r>
          </a:p>
          <a:p>
            <a:pPr algn="ctr"/>
            <a:r>
              <a:rPr lang="pt-BR" sz="2304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- R$41.696</a:t>
            </a:r>
          </a:p>
        </p:txBody>
      </p:sp>
      <p:sp>
        <p:nvSpPr>
          <p:cNvPr id="115" name="CaixaDeTexto 5">
            <a:extLst>
              <a:ext uri="{FF2B5EF4-FFF2-40B4-BE49-F238E27FC236}">
                <a16:creationId xmlns:a16="http://schemas.microsoft.com/office/drawing/2014/main" id="{DCE5C6E4-DFE1-9566-32E5-D5F20DB1E5CF}"/>
              </a:ext>
            </a:extLst>
          </p:cNvPr>
          <p:cNvSpPr txBox="1"/>
          <p:nvPr/>
        </p:nvSpPr>
        <p:spPr>
          <a:xfrm>
            <a:off x="13495091" y="6380456"/>
            <a:ext cx="2488207" cy="709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Redução Mensal</a:t>
            </a:r>
          </a:p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 R$33.926</a:t>
            </a:r>
          </a:p>
        </p:txBody>
      </p:sp>
      <p:sp>
        <p:nvSpPr>
          <p:cNvPr id="116" name="Retângulo Arredondado 25">
            <a:extLst>
              <a:ext uri="{FF2B5EF4-FFF2-40B4-BE49-F238E27FC236}">
                <a16:creationId xmlns:a16="http://schemas.microsoft.com/office/drawing/2014/main" id="{33AA11F9-64CF-77E9-98BA-AB230C233860}"/>
              </a:ext>
            </a:extLst>
          </p:cNvPr>
          <p:cNvSpPr/>
          <p:nvPr/>
        </p:nvSpPr>
        <p:spPr>
          <a:xfrm>
            <a:off x="13612958" y="4484655"/>
            <a:ext cx="2252472" cy="80437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solidFill>
                <a:srgbClr val="C00000"/>
              </a:solidFill>
              <a:highlight>
                <a:srgbClr val="CE1C30"/>
              </a:highlight>
              <a:latin typeface="Aptos" panose="020B0004020202020204" pitchFamily="34" charset="0"/>
            </a:endParaRPr>
          </a:p>
        </p:txBody>
      </p:sp>
      <p:sp>
        <p:nvSpPr>
          <p:cNvPr id="117" name="CaixaDeTexto 14">
            <a:extLst>
              <a:ext uri="{FF2B5EF4-FFF2-40B4-BE49-F238E27FC236}">
                <a16:creationId xmlns:a16="http://schemas.microsoft.com/office/drawing/2014/main" id="{10BC978F-1BAB-F036-8E6D-8033627DADFB}"/>
              </a:ext>
            </a:extLst>
          </p:cNvPr>
          <p:cNvSpPr txBox="1"/>
          <p:nvPr/>
        </p:nvSpPr>
        <p:spPr>
          <a:xfrm>
            <a:off x="13759238" y="4620935"/>
            <a:ext cx="1959913" cy="531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-48%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943A042-4DEF-4F44-8BBD-D5D3D45958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894" y="2104351"/>
            <a:ext cx="1800000" cy="45176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806A58A-AE51-41BA-AB37-FD8F291A6F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448" y="2047579"/>
            <a:ext cx="1620000" cy="5769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28997D5-642C-446E-8839-80D0D948AA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9194" y="1957015"/>
            <a:ext cx="1980000" cy="64244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FA82760-5601-4DF6-BB2D-CEE04D638D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127" y="2126474"/>
            <a:ext cx="1800000" cy="419143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B739A16E-F89F-4CFA-BE9A-5097EF29D8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268" y="1971435"/>
            <a:ext cx="1620000" cy="576932"/>
          </a:xfrm>
          <a:prstGeom prst="rect">
            <a:avLst/>
          </a:prstGeom>
        </p:spPr>
      </p:pic>
      <p:sp>
        <p:nvSpPr>
          <p:cNvPr id="61" name="CaixaDeTexto 8">
            <a:extLst>
              <a:ext uri="{FF2B5EF4-FFF2-40B4-BE49-F238E27FC236}">
                <a16:creationId xmlns:a16="http://schemas.microsoft.com/office/drawing/2014/main" id="{8BC18E2C-43C4-40C8-A77E-1917FD7AF365}"/>
              </a:ext>
            </a:extLst>
          </p:cNvPr>
          <p:cNvSpPr txBox="1"/>
          <p:nvPr/>
        </p:nvSpPr>
        <p:spPr>
          <a:xfrm>
            <a:off x="8133268" y="7383324"/>
            <a:ext cx="2268000" cy="186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telemedicina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prof. dedicado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enfermeira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tecnologia exclusiva</a:t>
            </a:r>
          </a:p>
          <a:p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BigData</a:t>
            </a:r>
            <a:endParaRPr lang="pt-BR" sz="20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Atyp Display" pitchFamily="2" charset="0"/>
            </a:endParaRPr>
          </a:p>
        </p:txBody>
      </p:sp>
      <p:sp>
        <p:nvSpPr>
          <p:cNvPr id="62" name="CaixaDeTexto 8">
            <a:extLst>
              <a:ext uri="{FF2B5EF4-FFF2-40B4-BE49-F238E27FC236}">
                <a16:creationId xmlns:a16="http://schemas.microsoft.com/office/drawing/2014/main" id="{3CE141E7-9E8F-4F49-A714-662558256771}"/>
              </a:ext>
            </a:extLst>
          </p:cNvPr>
          <p:cNvSpPr txBox="1"/>
          <p:nvPr/>
        </p:nvSpPr>
        <p:spPr>
          <a:xfrm>
            <a:off x="10851894" y="7382484"/>
            <a:ext cx="2268000" cy="186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telemedicina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prof. dedicado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enfermeira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tecnologia exclusiva</a:t>
            </a:r>
          </a:p>
          <a:p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BigData</a:t>
            </a:r>
            <a:endParaRPr lang="pt-BR" sz="20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Atyp Display" pitchFamily="2" charset="0"/>
            </a:endParaRPr>
          </a:p>
        </p:txBody>
      </p:sp>
      <p:sp>
        <p:nvSpPr>
          <p:cNvPr id="63" name="CaixaDeTexto 8">
            <a:extLst>
              <a:ext uri="{FF2B5EF4-FFF2-40B4-BE49-F238E27FC236}">
                <a16:creationId xmlns:a16="http://schemas.microsoft.com/office/drawing/2014/main" id="{0076599D-50F1-409D-9BD3-735C7603AB13}"/>
              </a:ext>
            </a:extLst>
          </p:cNvPr>
          <p:cNvSpPr txBox="1"/>
          <p:nvPr/>
        </p:nvSpPr>
        <p:spPr>
          <a:xfrm>
            <a:off x="13605194" y="7391080"/>
            <a:ext cx="2268000" cy="186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telemedicina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prof. dedicado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enfermeira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tecnologia exclusiva</a:t>
            </a:r>
          </a:p>
          <a:p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BigData</a:t>
            </a:r>
            <a:endParaRPr lang="pt-BR" sz="20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Atyp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206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4DD6390A-296A-48C7-BC18-440666B5CA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7241" y="565162"/>
            <a:ext cx="1491019" cy="55027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883110" y="315527"/>
            <a:ext cx="11463336" cy="101449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500" spc="600" dirty="0">
                <a:solidFill>
                  <a:srgbClr val="00B0F0"/>
                </a:solidFill>
                <a:latin typeface="Gobold Extra2" panose="02000500000000000000" pitchFamily="2" charset="0"/>
                <a:ea typeface="Atyp Display" pitchFamily="2" charset="0"/>
              </a:rPr>
              <a:t>ANÁLISE FINANCEIRA</a:t>
            </a:r>
          </a:p>
        </p:txBody>
      </p:sp>
      <p:sp>
        <p:nvSpPr>
          <p:cNvPr id="5" name="Retângulo: Cantos Arredondados 3">
            <a:extLst>
              <a:ext uri="{FF2B5EF4-FFF2-40B4-BE49-F238E27FC236}">
                <a16:creationId xmlns:a16="http://schemas.microsoft.com/office/drawing/2014/main" id="{36186C29-B505-6D34-7336-39071093D9AD}"/>
              </a:ext>
            </a:extLst>
          </p:cNvPr>
          <p:cNvSpPr/>
          <p:nvPr/>
        </p:nvSpPr>
        <p:spPr>
          <a:xfrm>
            <a:off x="0" y="1957138"/>
            <a:ext cx="2894240" cy="7756488"/>
          </a:xfrm>
          <a:prstGeom prst="roundRect">
            <a:avLst>
              <a:gd name="adj" fmla="val 32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/>
          </a:p>
        </p:txBody>
      </p:sp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736CDFEA-95E9-B89F-1641-2829EBD4E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257555"/>
              </p:ext>
            </p:extLst>
          </p:nvPr>
        </p:nvGraphicFramePr>
        <p:xfrm>
          <a:off x="222503" y="2344600"/>
          <a:ext cx="17460002" cy="6840000"/>
        </p:xfrm>
        <a:graphic>
          <a:graphicData uri="http://schemas.openxmlformats.org/drawingml/2006/table">
            <a:tbl>
              <a:tblPr/>
              <a:tblGrid>
                <a:gridCol w="2644890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343844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  <a:gridCol w="2494367">
                  <a:extLst>
                    <a:ext uri="{9D8B030D-6E8A-4147-A177-3AD203B41FA5}">
                      <a16:colId xmlns:a16="http://schemas.microsoft.com/office/drawing/2014/main" val="2161287680"/>
                    </a:ext>
                  </a:extLst>
                </a:gridCol>
                <a:gridCol w="2494367">
                  <a:extLst>
                    <a:ext uri="{9D8B030D-6E8A-4147-A177-3AD203B41FA5}">
                      <a16:colId xmlns:a16="http://schemas.microsoft.com/office/drawing/2014/main" val="1948513445"/>
                    </a:ext>
                  </a:extLst>
                </a:gridCol>
                <a:gridCol w="2494367">
                  <a:extLst>
                    <a:ext uri="{9D8B030D-6E8A-4147-A177-3AD203B41FA5}">
                      <a16:colId xmlns:a16="http://schemas.microsoft.com/office/drawing/2014/main" val="3538555944"/>
                    </a:ext>
                  </a:extLst>
                </a:gridCol>
                <a:gridCol w="2494367">
                  <a:extLst>
                    <a:ext uri="{9D8B030D-6E8A-4147-A177-3AD203B41FA5}">
                      <a16:colId xmlns:a16="http://schemas.microsoft.com/office/drawing/2014/main" val="2988674231"/>
                    </a:ext>
                  </a:extLst>
                </a:gridCol>
                <a:gridCol w="2493800">
                  <a:extLst>
                    <a:ext uri="{9D8B030D-6E8A-4147-A177-3AD203B41FA5}">
                      <a16:colId xmlns:a16="http://schemas.microsoft.com/office/drawing/2014/main" val="277002483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Produto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S380 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Bronze SP+ 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Direto Nacional 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Efetivo 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Número de Vidas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Custo Médio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R$493,38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R$289,99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R$471,53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R$557,70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R$4.440,42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R$2.609,91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R$4.243,77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R$5.019,30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Produto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S450 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Ouro 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Classico 100 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Efetivo Plus 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Número de Vidas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Custo Médio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R$775,62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R$646,87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R$770,64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R$703,02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R$17.063,64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R$14.231,14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R$16.954,08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R$15.466,44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Produto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S750 R1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Platinum R1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Especial 100 R1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Nacional - (TN3P)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Número de Vidas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Custo Médio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R$660,97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R$709,94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R$563,97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R$702,17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R$660,97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R$709,94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R$563,97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R$702,17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Produto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S2500 R2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S6500 R3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Prestige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Premium 10 - (TCNX) SC 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Número de Vidas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Custo Médio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R$2.046,49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R$4.051,59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R$3.538,02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R$4.962,05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R$6.139,47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R$12.154,77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R$10.614,06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R$14.886,15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6A33-0AE8-A78E-CE9E-E8B23151E231}"/>
              </a:ext>
            </a:extLst>
          </p:cNvPr>
          <p:cNvSpPr txBox="1"/>
          <p:nvPr/>
        </p:nvSpPr>
        <p:spPr>
          <a:xfrm>
            <a:off x="246135" y="9393962"/>
            <a:ext cx="2051874" cy="29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96" dirty="0">
                <a:solidFill>
                  <a:srgbClr val="FFFF00"/>
                </a:solidFill>
                <a:latin typeface="Atyp Display" pitchFamily="2" charset="0"/>
                <a:ea typeface="Atyp Display" pitchFamily="2" charset="0"/>
              </a:rPr>
              <a:t>*Com coparticipação</a:t>
            </a:r>
          </a:p>
        </p:txBody>
      </p:sp>
      <p:cxnSp>
        <p:nvCxnSpPr>
          <p:cNvPr id="13" name="Conector Reto 1">
            <a:extLst>
              <a:ext uri="{FF2B5EF4-FFF2-40B4-BE49-F238E27FC236}">
                <a16:creationId xmlns:a16="http://schemas.microsoft.com/office/drawing/2014/main" id="{B3324273-C153-7483-5EF1-90D9C72E4076}"/>
              </a:ext>
            </a:extLst>
          </p:cNvPr>
          <p:cNvCxnSpPr>
            <a:cxnSpLocks/>
          </p:cNvCxnSpPr>
          <p:nvPr/>
        </p:nvCxnSpPr>
        <p:spPr>
          <a:xfrm>
            <a:off x="7789952" y="2323805"/>
            <a:ext cx="0" cy="7550445"/>
          </a:xfrm>
          <a:prstGeom prst="line">
            <a:avLst/>
          </a:prstGeom>
          <a:ln w="38100">
            <a:solidFill>
              <a:schemeClr val="bg1">
                <a:lumMod val="8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">
            <a:extLst>
              <a:ext uri="{FF2B5EF4-FFF2-40B4-BE49-F238E27FC236}">
                <a16:creationId xmlns:a16="http://schemas.microsoft.com/office/drawing/2014/main" id="{A4D38419-25CC-B402-09CF-16B565262CFA}"/>
              </a:ext>
            </a:extLst>
          </p:cNvPr>
          <p:cNvCxnSpPr>
            <a:cxnSpLocks/>
          </p:cNvCxnSpPr>
          <p:nvPr/>
        </p:nvCxnSpPr>
        <p:spPr>
          <a:xfrm>
            <a:off x="12699032" y="2323805"/>
            <a:ext cx="0" cy="7550445"/>
          </a:xfrm>
          <a:prstGeom prst="line">
            <a:avLst/>
          </a:prstGeom>
          <a:ln w="38100">
            <a:solidFill>
              <a:schemeClr val="bg1">
                <a:lumMod val="8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">
            <a:extLst>
              <a:ext uri="{FF2B5EF4-FFF2-40B4-BE49-F238E27FC236}">
                <a16:creationId xmlns:a16="http://schemas.microsoft.com/office/drawing/2014/main" id="{16F6B58D-AE5E-7313-8C3A-DDE36BE28665}"/>
              </a:ext>
            </a:extLst>
          </p:cNvPr>
          <p:cNvCxnSpPr>
            <a:cxnSpLocks/>
          </p:cNvCxnSpPr>
          <p:nvPr/>
        </p:nvCxnSpPr>
        <p:spPr>
          <a:xfrm>
            <a:off x="5260112" y="2323805"/>
            <a:ext cx="0" cy="7550445"/>
          </a:xfrm>
          <a:prstGeom prst="line">
            <a:avLst/>
          </a:prstGeom>
          <a:ln w="38100">
            <a:solidFill>
              <a:schemeClr val="bg1">
                <a:lumMod val="8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">
            <a:extLst>
              <a:ext uri="{FF2B5EF4-FFF2-40B4-BE49-F238E27FC236}">
                <a16:creationId xmlns:a16="http://schemas.microsoft.com/office/drawing/2014/main" id="{41281050-67A5-2A25-F697-45FCE8EEBC39}"/>
              </a:ext>
            </a:extLst>
          </p:cNvPr>
          <p:cNvCxnSpPr>
            <a:cxnSpLocks/>
          </p:cNvCxnSpPr>
          <p:nvPr/>
        </p:nvCxnSpPr>
        <p:spPr>
          <a:xfrm>
            <a:off x="10206176" y="2323805"/>
            <a:ext cx="0" cy="7550445"/>
          </a:xfrm>
          <a:prstGeom prst="line">
            <a:avLst/>
          </a:prstGeom>
          <a:ln w="38100">
            <a:solidFill>
              <a:schemeClr val="bg1">
                <a:lumMod val="8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m 18">
            <a:extLst>
              <a:ext uri="{FF2B5EF4-FFF2-40B4-BE49-F238E27FC236}">
                <a16:creationId xmlns:a16="http://schemas.microsoft.com/office/drawing/2014/main" id="{DCCE0C8A-636A-4790-B31B-ADFB2C117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758" y="1701058"/>
            <a:ext cx="1800000" cy="45176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FDAC09B-A6CE-4D1E-A758-0F3BC49EB1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360" y="1638474"/>
            <a:ext cx="1620000" cy="57693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5DABF55F-EF77-4B33-8698-2A05B703E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871" y="1605719"/>
            <a:ext cx="1980000" cy="64244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DEDA5B3A-F7BD-4A18-B661-ECE870DA00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486" y="1638474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4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554222" cy="987425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E142087-2D59-4D14-88AC-B1FC3D0FE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267" y="606119"/>
            <a:ext cx="1078363" cy="1617545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4DD6390A-296A-48C7-BC18-440666B5CA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7241" y="565162"/>
            <a:ext cx="1491019" cy="55027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879606" y="329285"/>
            <a:ext cx="11463336" cy="101449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500" spc="600" dirty="0">
                <a:solidFill>
                  <a:srgbClr val="0141B6"/>
                </a:solidFill>
                <a:latin typeface="Gobold Extra2" panose="02000500000000000000" pitchFamily="2" charset="0"/>
                <a:ea typeface="Atyp Display" pitchFamily="2" charset="0"/>
              </a:rPr>
              <a:t>INVESTIMENTO FINANCEIRO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7F15E6-AE5B-A4D9-F938-4A7B9439A72D}"/>
              </a:ext>
            </a:extLst>
          </p:cNvPr>
          <p:cNvSpPr txBox="1"/>
          <p:nvPr/>
        </p:nvSpPr>
        <p:spPr>
          <a:xfrm>
            <a:off x="882905" y="9405158"/>
            <a:ext cx="2051874" cy="29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9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* Sem coparticipação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3487B6F-3921-30A0-9F4F-DF1EC07CE0B3}"/>
              </a:ext>
            </a:extLst>
          </p:cNvPr>
          <p:cNvSpPr txBox="1"/>
          <p:nvPr/>
        </p:nvSpPr>
        <p:spPr>
          <a:xfrm>
            <a:off x="11645205" y="9403106"/>
            <a:ext cx="5055706" cy="29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9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* Valores sujeitos à alteração após análise da documentação. </a:t>
            </a:r>
          </a:p>
        </p:txBody>
      </p:sp>
      <p:sp>
        <p:nvSpPr>
          <p:cNvPr id="73" name="Retângulo: Cantos Arredondados 57">
            <a:extLst>
              <a:ext uri="{FF2B5EF4-FFF2-40B4-BE49-F238E27FC236}">
                <a16:creationId xmlns:a16="http://schemas.microsoft.com/office/drawing/2014/main" id="{14183B4D-E73F-23C5-CC4F-BB1181CB543E}"/>
              </a:ext>
            </a:extLst>
          </p:cNvPr>
          <p:cNvSpPr/>
          <p:nvPr/>
        </p:nvSpPr>
        <p:spPr>
          <a:xfrm>
            <a:off x="2524024" y="2294983"/>
            <a:ext cx="2488207" cy="4969646"/>
          </a:xfrm>
          <a:prstGeom prst="roundRect">
            <a:avLst>
              <a:gd name="adj" fmla="val 6359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74" name="Rounded Rectangular Callout 1">
            <a:extLst>
              <a:ext uri="{FF2B5EF4-FFF2-40B4-BE49-F238E27FC236}">
                <a16:creationId xmlns:a16="http://schemas.microsoft.com/office/drawing/2014/main" id="{FF488DE0-6026-4A2C-CE2E-3E6628878B7E}"/>
              </a:ext>
            </a:extLst>
          </p:cNvPr>
          <p:cNvSpPr/>
          <p:nvPr/>
        </p:nvSpPr>
        <p:spPr>
          <a:xfrm>
            <a:off x="2631801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75" name="CaixaDeTexto 6">
            <a:extLst>
              <a:ext uri="{FF2B5EF4-FFF2-40B4-BE49-F238E27FC236}">
                <a16:creationId xmlns:a16="http://schemas.microsoft.com/office/drawing/2014/main" id="{2D7DE679-84BA-CE99-CB78-A41A9F698811}"/>
              </a:ext>
            </a:extLst>
          </p:cNvPr>
          <p:cNvSpPr txBox="1"/>
          <p:nvPr/>
        </p:nvSpPr>
        <p:spPr>
          <a:xfrm>
            <a:off x="2532178" y="4355029"/>
            <a:ext cx="2471899" cy="10636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JUL</a:t>
            </a:r>
          </a:p>
          <a:p>
            <a:pPr algn="ctr"/>
            <a:r>
              <a:rPr lang="pt-BR" sz="3456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2026</a:t>
            </a:r>
          </a:p>
        </p:txBody>
      </p:sp>
      <p:sp>
        <p:nvSpPr>
          <p:cNvPr id="76" name="CaixaDeTexto 7">
            <a:extLst>
              <a:ext uri="{FF2B5EF4-FFF2-40B4-BE49-F238E27FC236}">
                <a16:creationId xmlns:a16="http://schemas.microsoft.com/office/drawing/2014/main" id="{5739F676-1976-7081-0C7A-EBBE5B0B4642}"/>
              </a:ext>
            </a:extLst>
          </p:cNvPr>
          <p:cNvSpPr txBox="1"/>
          <p:nvPr/>
        </p:nvSpPr>
        <p:spPr>
          <a:xfrm>
            <a:off x="2518149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rgbClr val="FFFF00"/>
                </a:solidFill>
                <a:latin typeface="Aptos" panose="020B0004020202020204" pitchFamily="34" charset="0"/>
                <a:ea typeface="Atyp Display" pitchFamily="2" charset="0"/>
              </a:rPr>
              <a:t>R$70.000</a:t>
            </a:r>
          </a:p>
        </p:txBody>
      </p:sp>
      <p:sp>
        <p:nvSpPr>
          <p:cNvPr id="77" name="CaixaDeTexto 8">
            <a:extLst>
              <a:ext uri="{FF2B5EF4-FFF2-40B4-BE49-F238E27FC236}">
                <a16:creationId xmlns:a16="http://schemas.microsoft.com/office/drawing/2014/main" id="{4359F750-9DEF-E913-DBB7-D890FB70D937}"/>
              </a:ext>
            </a:extLst>
          </p:cNvPr>
          <p:cNvSpPr txBox="1"/>
          <p:nvPr/>
        </p:nvSpPr>
        <p:spPr>
          <a:xfrm>
            <a:off x="2852139" y="7389073"/>
            <a:ext cx="183197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Total de Vidas: 35</a:t>
            </a:r>
          </a:p>
        </p:txBody>
      </p:sp>
      <p:sp>
        <p:nvSpPr>
          <p:cNvPr id="84" name="Retângulo: Cantos Arredondados 3">
            <a:extLst>
              <a:ext uri="{FF2B5EF4-FFF2-40B4-BE49-F238E27FC236}">
                <a16:creationId xmlns:a16="http://schemas.microsoft.com/office/drawing/2014/main" id="{8B55134A-A97B-2A56-56C7-A9D79A2C47EF}"/>
              </a:ext>
            </a:extLst>
          </p:cNvPr>
          <p:cNvSpPr/>
          <p:nvPr/>
        </p:nvSpPr>
        <p:spPr>
          <a:xfrm>
            <a:off x="5270345" y="2294983"/>
            <a:ext cx="2488207" cy="4969646"/>
          </a:xfrm>
          <a:prstGeom prst="roundRect">
            <a:avLst>
              <a:gd name="adj" fmla="val 361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85" name="Rounded Rectangular Callout 20">
            <a:extLst>
              <a:ext uri="{FF2B5EF4-FFF2-40B4-BE49-F238E27FC236}">
                <a16:creationId xmlns:a16="http://schemas.microsoft.com/office/drawing/2014/main" id="{0FB4AB6D-8B92-528D-7E23-B2DB8B130E07}"/>
              </a:ext>
            </a:extLst>
          </p:cNvPr>
          <p:cNvSpPr/>
          <p:nvPr/>
        </p:nvSpPr>
        <p:spPr>
          <a:xfrm>
            <a:off x="5378122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86" name="CaixaDeTexto 7">
            <a:extLst>
              <a:ext uri="{FF2B5EF4-FFF2-40B4-BE49-F238E27FC236}">
                <a16:creationId xmlns:a16="http://schemas.microsoft.com/office/drawing/2014/main" id="{E31EA273-A70E-8BA5-8521-B6D4F4E346C5}"/>
              </a:ext>
            </a:extLst>
          </p:cNvPr>
          <p:cNvSpPr txBox="1"/>
          <p:nvPr/>
        </p:nvSpPr>
        <p:spPr>
          <a:xfrm>
            <a:off x="5264470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rgbClr val="FFFF00"/>
                </a:solidFill>
                <a:latin typeface="Aptos" panose="020B0004020202020204" pitchFamily="34" charset="0"/>
                <a:ea typeface="Atyp Display" pitchFamily="2" charset="0"/>
              </a:rPr>
              <a:t>R$36.614</a:t>
            </a:r>
          </a:p>
        </p:txBody>
      </p:sp>
      <p:sp>
        <p:nvSpPr>
          <p:cNvPr id="87" name="CaixaDeTexto 8">
            <a:extLst>
              <a:ext uri="{FF2B5EF4-FFF2-40B4-BE49-F238E27FC236}">
                <a16:creationId xmlns:a16="http://schemas.microsoft.com/office/drawing/2014/main" id="{0D685F68-A927-ABB2-E98F-E5E73B330140}"/>
              </a:ext>
            </a:extLst>
          </p:cNvPr>
          <p:cNvSpPr txBox="1"/>
          <p:nvPr/>
        </p:nvSpPr>
        <p:spPr>
          <a:xfrm>
            <a:off x="5380448" y="7389073"/>
            <a:ext cx="2268000" cy="186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telemedicina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prof. dedicado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enfermeira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tecnologia exclusiva</a:t>
            </a:r>
          </a:p>
          <a:p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BigData</a:t>
            </a:r>
            <a:endParaRPr lang="pt-BR" sz="20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Atyp Display" pitchFamily="2" charset="0"/>
            </a:endParaRPr>
          </a:p>
        </p:txBody>
      </p:sp>
      <p:sp>
        <p:nvSpPr>
          <p:cNvPr id="88" name="Retângulo: Cantos Arredondados 3">
            <a:extLst>
              <a:ext uri="{FF2B5EF4-FFF2-40B4-BE49-F238E27FC236}">
                <a16:creationId xmlns:a16="http://schemas.microsoft.com/office/drawing/2014/main" id="{AEF67C97-EED5-6340-141D-4F2995B82828}"/>
              </a:ext>
            </a:extLst>
          </p:cNvPr>
          <p:cNvSpPr/>
          <p:nvPr/>
        </p:nvSpPr>
        <p:spPr>
          <a:xfrm>
            <a:off x="8023165" y="2294983"/>
            <a:ext cx="2488207" cy="4969646"/>
          </a:xfrm>
          <a:prstGeom prst="roundRect">
            <a:avLst>
              <a:gd name="adj" fmla="val 4985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89" name="Rounded Rectangular Callout 28">
            <a:extLst>
              <a:ext uri="{FF2B5EF4-FFF2-40B4-BE49-F238E27FC236}">
                <a16:creationId xmlns:a16="http://schemas.microsoft.com/office/drawing/2014/main" id="{B6BDD7E9-55CD-C545-1609-17D307DF2584}"/>
              </a:ext>
            </a:extLst>
          </p:cNvPr>
          <p:cNvSpPr/>
          <p:nvPr/>
        </p:nvSpPr>
        <p:spPr>
          <a:xfrm>
            <a:off x="8130942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90" name="Retângulo Arredondado 25">
            <a:extLst>
              <a:ext uri="{FF2B5EF4-FFF2-40B4-BE49-F238E27FC236}">
                <a16:creationId xmlns:a16="http://schemas.microsoft.com/office/drawing/2014/main" id="{F2B23F86-21FF-7502-E04F-0F4CB1C3A74A}"/>
              </a:ext>
            </a:extLst>
          </p:cNvPr>
          <p:cNvSpPr/>
          <p:nvPr/>
        </p:nvSpPr>
        <p:spPr>
          <a:xfrm>
            <a:off x="5388212" y="4484655"/>
            <a:ext cx="2252472" cy="80437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solidFill>
                <a:srgbClr val="C00000"/>
              </a:solidFill>
              <a:highlight>
                <a:srgbClr val="CE1C30"/>
              </a:highlight>
              <a:latin typeface="Aptos" panose="020B0004020202020204" pitchFamily="34" charset="0"/>
            </a:endParaRPr>
          </a:p>
        </p:txBody>
      </p:sp>
      <p:sp>
        <p:nvSpPr>
          <p:cNvPr id="91" name="CaixaDeTexto 14">
            <a:extLst>
              <a:ext uri="{FF2B5EF4-FFF2-40B4-BE49-F238E27FC236}">
                <a16:creationId xmlns:a16="http://schemas.microsoft.com/office/drawing/2014/main" id="{E64DE4CF-47A2-D7DC-7159-CE0F143D79CE}"/>
              </a:ext>
            </a:extLst>
          </p:cNvPr>
          <p:cNvSpPr txBox="1"/>
          <p:nvPr/>
        </p:nvSpPr>
        <p:spPr>
          <a:xfrm>
            <a:off x="5623579" y="4620935"/>
            <a:ext cx="1781739" cy="531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- 48%</a:t>
            </a:r>
          </a:p>
        </p:txBody>
      </p:sp>
      <p:sp>
        <p:nvSpPr>
          <p:cNvPr id="92" name="CaixaDeTexto 7">
            <a:extLst>
              <a:ext uri="{FF2B5EF4-FFF2-40B4-BE49-F238E27FC236}">
                <a16:creationId xmlns:a16="http://schemas.microsoft.com/office/drawing/2014/main" id="{59CC2548-A377-0840-5DAE-0D5A47DEE090}"/>
              </a:ext>
            </a:extLst>
          </p:cNvPr>
          <p:cNvSpPr txBox="1"/>
          <p:nvPr/>
        </p:nvSpPr>
        <p:spPr>
          <a:xfrm>
            <a:off x="8017290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R$37.379</a:t>
            </a:r>
          </a:p>
        </p:txBody>
      </p:sp>
      <p:sp>
        <p:nvSpPr>
          <p:cNvPr id="94" name="Retângulo Arredondado 25">
            <a:extLst>
              <a:ext uri="{FF2B5EF4-FFF2-40B4-BE49-F238E27FC236}">
                <a16:creationId xmlns:a16="http://schemas.microsoft.com/office/drawing/2014/main" id="{D73611DD-7F15-CC18-E5F1-E4BF704D0930}"/>
              </a:ext>
            </a:extLst>
          </p:cNvPr>
          <p:cNvSpPr/>
          <p:nvPr/>
        </p:nvSpPr>
        <p:spPr>
          <a:xfrm>
            <a:off x="8141032" y="4484655"/>
            <a:ext cx="2252472" cy="80437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solidFill>
                <a:srgbClr val="C00000"/>
              </a:solidFill>
              <a:highlight>
                <a:srgbClr val="CE1C30"/>
              </a:highlight>
              <a:latin typeface="Aptos" panose="020B0004020202020204" pitchFamily="34" charset="0"/>
            </a:endParaRPr>
          </a:p>
        </p:txBody>
      </p:sp>
      <p:sp>
        <p:nvSpPr>
          <p:cNvPr id="95" name="CaixaDeTexto 14">
            <a:extLst>
              <a:ext uri="{FF2B5EF4-FFF2-40B4-BE49-F238E27FC236}">
                <a16:creationId xmlns:a16="http://schemas.microsoft.com/office/drawing/2014/main" id="{B11371D9-DF75-9827-5B40-FB2DAC95EA8C}"/>
              </a:ext>
            </a:extLst>
          </p:cNvPr>
          <p:cNvSpPr txBox="1"/>
          <p:nvPr/>
        </p:nvSpPr>
        <p:spPr>
          <a:xfrm>
            <a:off x="8189316" y="4620935"/>
            <a:ext cx="2155905" cy="531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- 47%</a:t>
            </a:r>
          </a:p>
        </p:txBody>
      </p:sp>
      <p:sp>
        <p:nvSpPr>
          <p:cNvPr id="96" name="Retângulo: Cantos Arredondados 3">
            <a:extLst>
              <a:ext uri="{FF2B5EF4-FFF2-40B4-BE49-F238E27FC236}">
                <a16:creationId xmlns:a16="http://schemas.microsoft.com/office/drawing/2014/main" id="{AAAF250E-AE82-6EA5-1278-E419C23130B5}"/>
              </a:ext>
            </a:extLst>
          </p:cNvPr>
          <p:cNvSpPr/>
          <p:nvPr/>
        </p:nvSpPr>
        <p:spPr>
          <a:xfrm>
            <a:off x="10741791" y="2294983"/>
            <a:ext cx="2488207" cy="4969646"/>
          </a:xfrm>
          <a:prstGeom prst="roundRect">
            <a:avLst>
              <a:gd name="adj" fmla="val 4298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97" name="Rounded Rectangular Callout 64">
            <a:extLst>
              <a:ext uri="{FF2B5EF4-FFF2-40B4-BE49-F238E27FC236}">
                <a16:creationId xmlns:a16="http://schemas.microsoft.com/office/drawing/2014/main" id="{4D2BC5B6-6D52-5422-5AC6-E493AEA0B3C1}"/>
              </a:ext>
            </a:extLst>
          </p:cNvPr>
          <p:cNvSpPr/>
          <p:nvPr/>
        </p:nvSpPr>
        <p:spPr>
          <a:xfrm>
            <a:off x="10849568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98" name="CaixaDeTexto 5">
            <a:extLst>
              <a:ext uri="{FF2B5EF4-FFF2-40B4-BE49-F238E27FC236}">
                <a16:creationId xmlns:a16="http://schemas.microsoft.com/office/drawing/2014/main" id="{FB0FED6A-3FD9-8FAA-322D-235EE2790492}"/>
              </a:ext>
            </a:extLst>
          </p:cNvPr>
          <p:cNvSpPr txBox="1"/>
          <p:nvPr/>
        </p:nvSpPr>
        <p:spPr>
          <a:xfrm>
            <a:off x="11015732" y="3581631"/>
            <a:ext cx="1940325" cy="35458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+ Opções </a:t>
            </a:r>
          </a:p>
        </p:txBody>
      </p:sp>
      <p:sp>
        <p:nvSpPr>
          <p:cNvPr id="99" name="CaixaDeTexto 7">
            <a:extLst>
              <a:ext uri="{FF2B5EF4-FFF2-40B4-BE49-F238E27FC236}">
                <a16:creationId xmlns:a16="http://schemas.microsoft.com/office/drawing/2014/main" id="{495B475D-892F-9BFE-C94F-DA191E1DAEDD}"/>
              </a:ext>
            </a:extLst>
          </p:cNvPr>
          <p:cNvSpPr txBox="1"/>
          <p:nvPr/>
        </p:nvSpPr>
        <p:spPr>
          <a:xfrm>
            <a:off x="10735916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R$41.907</a:t>
            </a:r>
          </a:p>
        </p:txBody>
      </p:sp>
      <p:sp>
        <p:nvSpPr>
          <p:cNvPr id="100" name="Retângulo: Cantos Arredondados 3">
            <a:extLst>
              <a:ext uri="{FF2B5EF4-FFF2-40B4-BE49-F238E27FC236}">
                <a16:creationId xmlns:a16="http://schemas.microsoft.com/office/drawing/2014/main" id="{D66F2035-191C-6B21-E096-34CEE583099D}"/>
              </a:ext>
            </a:extLst>
          </p:cNvPr>
          <p:cNvSpPr/>
          <p:nvPr/>
        </p:nvSpPr>
        <p:spPr>
          <a:xfrm>
            <a:off x="13495091" y="2294983"/>
            <a:ext cx="2488207" cy="4969646"/>
          </a:xfrm>
          <a:prstGeom prst="roundRect">
            <a:avLst>
              <a:gd name="adj" fmla="val 5672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latin typeface="Aptos" panose="020B0004020202020204" pitchFamily="34" charset="0"/>
            </a:endParaRPr>
          </a:p>
        </p:txBody>
      </p:sp>
      <p:sp>
        <p:nvSpPr>
          <p:cNvPr id="101" name="Rounded Rectangular Callout 69">
            <a:extLst>
              <a:ext uri="{FF2B5EF4-FFF2-40B4-BE49-F238E27FC236}">
                <a16:creationId xmlns:a16="http://schemas.microsoft.com/office/drawing/2014/main" id="{057B663C-913B-45E3-B9F5-0D91BD63FF6C}"/>
              </a:ext>
            </a:extLst>
          </p:cNvPr>
          <p:cNvSpPr/>
          <p:nvPr/>
        </p:nvSpPr>
        <p:spPr>
          <a:xfrm>
            <a:off x="13602868" y="1741881"/>
            <a:ext cx="2272653" cy="1188328"/>
          </a:xfrm>
          <a:prstGeom prst="wedgeRoundRectCallout">
            <a:avLst>
              <a:gd name="adj1" fmla="val -20833"/>
              <a:gd name="adj2" fmla="val 6353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 sz="2592">
              <a:latin typeface="Aptos" panose="020B0004020202020204" pitchFamily="34" charset="0"/>
            </a:endParaRPr>
          </a:p>
        </p:txBody>
      </p:sp>
      <p:sp>
        <p:nvSpPr>
          <p:cNvPr id="102" name="Retângulo Arredondado 25">
            <a:extLst>
              <a:ext uri="{FF2B5EF4-FFF2-40B4-BE49-F238E27FC236}">
                <a16:creationId xmlns:a16="http://schemas.microsoft.com/office/drawing/2014/main" id="{DDE91091-0D2F-A2CC-6624-5DC2DBF98608}"/>
              </a:ext>
            </a:extLst>
          </p:cNvPr>
          <p:cNvSpPr/>
          <p:nvPr/>
        </p:nvSpPr>
        <p:spPr>
          <a:xfrm>
            <a:off x="10859658" y="4484655"/>
            <a:ext cx="2252472" cy="80437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solidFill>
                <a:srgbClr val="C00000"/>
              </a:solidFill>
              <a:highlight>
                <a:srgbClr val="CE1C30"/>
              </a:highlight>
              <a:latin typeface="Aptos" panose="020B0004020202020204" pitchFamily="34" charset="0"/>
            </a:endParaRPr>
          </a:p>
        </p:txBody>
      </p:sp>
      <p:sp>
        <p:nvSpPr>
          <p:cNvPr id="103" name="CaixaDeTexto 14">
            <a:extLst>
              <a:ext uri="{FF2B5EF4-FFF2-40B4-BE49-F238E27FC236}">
                <a16:creationId xmlns:a16="http://schemas.microsoft.com/office/drawing/2014/main" id="{113C1ADD-AF7A-93A7-1FDB-B181F69CD8A1}"/>
              </a:ext>
            </a:extLst>
          </p:cNvPr>
          <p:cNvSpPr txBox="1"/>
          <p:nvPr/>
        </p:nvSpPr>
        <p:spPr>
          <a:xfrm>
            <a:off x="11005938" y="4620935"/>
            <a:ext cx="1959913" cy="531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- 40%</a:t>
            </a:r>
          </a:p>
        </p:txBody>
      </p:sp>
      <p:sp>
        <p:nvSpPr>
          <p:cNvPr id="104" name="CaixaDeTexto 5">
            <a:extLst>
              <a:ext uri="{FF2B5EF4-FFF2-40B4-BE49-F238E27FC236}">
                <a16:creationId xmlns:a16="http://schemas.microsoft.com/office/drawing/2014/main" id="{DC8BBCBD-C809-2B1A-3DFB-7A0861FC83C2}"/>
              </a:ext>
            </a:extLst>
          </p:cNvPr>
          <p:cNvSpPr txBox="1"/>
          <p:nvPr/>
        </p:nvSpPr>
        <p:spPr>
          <a:xfrm>
            <a:off x="13769032" y="3581631"/>
            <a:ext cx="1940325" cy="35458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+ Opções </a:t>
            </a:r>
          </a:p>
        </p:txBody>
      </p:sp>
      <p:sp>
        <p:nvSpPr>
          <p:cNvPr id="105" name="CaixaDeTexto 7">
            <a:extLst>
              <a:ext uri="{FF2B5EF4-FFF2-40B4-BE49-F238E27FC236}">
                <a16:creationId xmlns:a16="http://schemas.microsoft.com/office/drawing/2014/main" id="{E2100F9E-D4F4-4DE5-F17A-631770422B5F}"/>
              </a:ext>
            </a:extLst>
          </p:cNvPr>
          <p:cNvSpPr txBox="1"/>
          <p:nvPr/>
        </p:nvSpPr>
        <p:spPr>
          <a:xfrm>
            <a:off x="13489216" y="5669507"/>
            <a:ext cx="249995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5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R$43.885</a:t>
            </a:r>
          </a:p>
        </p:txBody>
      </p:sp>
      <p:sp>
        <p:nvSpPr>
          <p:cNvPr id="108" name="CaixaDeTexto 5">
            <a:extLst>
              <a:ext uri="{FF2B5EF4-FFF2-40B4-BE49-F238E27FC236}">
                <a16:creationId xmlns:a16="http://schemas.microsoft.com/office/drawing/2014/main" id="{1F2B5C16-D778-79A0-A922-4936D8F27F3C}"/>
              </a:ext>
            </a:extLst>
          </p:cNvPr>
          <p:cNvSpPr txBox="1"/>
          <p:nvPr/>
        </p:nvSpPr>
        <p:spPr>
          <a:xfrm>
            <a:off x="2797965" y="3404339"/>
            <a:ext cx="1940325" cy="70916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Faturamento Mensal</a:t>
            </a:r>
          </a:p>
        </p:txBody>
      </p:sp>
      <p:sp>
        <p:nvSpPr>
          <p:cNvPr id="110" name="CaixaDeTexto 5">
            <a:extLst>
              <a:ext uri="{FF2B5EF4-FFF2-40B4-BE49-F238E27FC236}">
                <a16:creationId xmlns:a16="http://schemas.microsoft.com/office/drawing/2014/main" id="{B545E2E0-C88B-87D1-06B8-E8086B536C8B}"/>
              </a:ext>
            </a:extLst>
          </p:cNvPr>
          <p:cNvSpPr txBox="1"/>
          <p:nvPr/>
        </p:nvSpPr>
        <p:spPr>
          <a:xfrm>
            <a:off x="5544286" y="3581631"/>
            <a:ext cx="1940325" cy="35458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Menor Custo </a:t>
            </a:r>
          </a:p>
        </p:txBody>
      </p:sp>
      <p:sp>
        <p:nvSpPr>
          <p:cNvPr id="111" name="CaixaDeTexto 5">
            <a:extLst>
              <a:ext uri="{FF2B5EF4-FFF2-40B4-BE49-F238E27FC236}">
                <a16:creationId xmlns:a16="http://schemas.microsoft.com/office/drawing/2014/main" id="{3E9DBCF0-5E4E-748B-60E0-3CE0338D1FEE}"/>
              </a:ext>
            </a:extLst>
          </p:cNvPr>
          <p:cNvSpPr txBox="1"/>
          <p:nvPr/>
        </p:nvSpPr>
        <p:spPr>
          <a:xfrm>
            <a:off x="8297106" y="3581631"/>
            <a:ext cx="1940325" cy="35458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+ Opções </a:t>
            </a:r>
          </a:p>
        </p:txBody>
      </p:sp>
      <p:sp>
        <p:nvSpPr>
          <p:cNvPr id="112" name="CaixaDeTexto 5">
            <a:extLst>
              <a:ext uri="{FF2B5EF4-FFF2-40B4-BE49-F238E27FC236}">
                <a16:creationId xmlns:a16="http://schemas.microsoft.com/office/drawing/2014/main" id="{4F49373A-70BC-D9FF-9407-CC54F58311C4}"/>
              </a:ext>
            </a:extLst>
          </p:cNvPr>
          <p:cNvSpPr txBox="1"/>
          <p:nvPr/>
        </p:nvSpPr>
        <p:spPr>
          <a:xfrm>
            <a:off x="10741791" y="6380456"/>
            <a:ext cx="2488207" cy="709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Redução Mensal</a:t>
            </a:r>
          </a:p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 R$28.093</a:t>
            </a:r>
          </a:p>
        </p:txBody>
      </p:sp>
      <p:sp>
        <p:nvSpPr>
          <p:cNvPr id="113" name="CaixaDeTexto 5">
            <a:extLst>
              <a:ext uri="{FF2B5EF4-FFF2-40B4-BE49-F238E27FC236}">
                <a16:creationId xmlns:a16="http://schemas.microsoft.com/office/drawing/2014/main" id="{B8DCE30E-6EF4-6D0B-2806-BC576D6F7DDE}"/>
              </a:ext>
            </a:extLst>
          </p:cNvPr>
          <p:cNvSpPr txBox="1"/>
          <p:nvPr/>
        </p:nvSpPr>
        <p:spPr>
          <a:xfrm>
            <a:off x="8023165" y="6380456"/>
            <a:ext cx="2488207" cy="709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Redução Mensal</a:t>
            </a:r>
          </a:p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 R$32.621</a:t>
            </a:r>
          </a:p>
        </p:txBody>
      </p:sp>
      <p:sp>
        <p:nvSpPr>
          <p:cNvPr id="114" name="CaixaDeTexto 5">
            <a:extLst>
              <a:ext uri="{FF2B5EF4-FFF2-40B4-BE49-F238E27FC236}">
                <a16:creationId xmlns:a16="http://schemas.microsoft.com/office/drawing/2014/main" id="{D800146F-981F-7575-36F0-DC2955A08CD5}"/>
              </a:ext>
            </a:extLst>
          </p:cNvPr>
          <p:cNvSpPr txBox="1"/>
          <p:nvPr/>
        </p:nvSpPr>
        <p:spPr>
          <a:xfrm>
            <a:off x="5270345" y="6380456"/>
            <a:ext cx="2488207" cy="709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Redução Mensal</a:t>
            </a:r>
          </a:p>
          <a:p>
            <a:pPr algn="ctr"/>
            <a:r>
              <a:rPr lang="pt-BR" sz="2304" dirty="0">
                <a:solidFill>
                  <a:schemeClr val="bg1"/>
                </a:solidFill>
                <a:latin typeface="Aptos" panose="020B0004020202020204" pitchFamily="34" charset="0"/>
                <a:ea typeface="Atyp Display" pitchFamily="2" charset="0"/>
              </a:rPr>
              <a:t>- R$33.387</a:t>
            </a:r>
          </a:p>
        </p:txBody>
      </p:sp>
      <p:sp>
        <p:nvSpPr>
          <p:cNvPr id="115" name="CaixaDeTexto 5">
            <a:extLst>
              <a:ext uri="{FF2B5EF4-FFF2-40B4-BE49-F238E27FC236}">
                <a16:creationId xmlns:a16="http://schemas.microsoft.com/office/drawing/2014/main" id="{DCE5C6E4-DFE1-9566-32E5-D5F20DB1E5CF}"/>
              </a:ext>
            </a:extLst>
          </p:cNvPr>
          <p:cNvSpPr txBox="1"/>
          <p:nvPr/>
        </p:nvSpPr>
        <p:spPr>
          <a:xfrm>
            <a:off x="13495091" y="6380456"/>
            <a:ext cx="2488207" cy="7091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Redução Mensal</a:t>
            </a:r>
          </a:p>
          <a:p>
            <a:pPr algn="ctr"/>
            <a:r>
              <a:rPr lang="pt-BR" sz="2304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 R$26.115</a:t>
            </a:r>
          </a:p>
        </p:txBody>
      </p:sp>
      <p:sp>
        <p:nvSpPr>
          <p:cNvPr id="116" name="Retângulo Arredondado 25">
            <a:extLst>
              <a:ext uri="{FF2B5EF4-FFF2-40B4-BE49-F238E27FC236}">
                <a16:creationId xmlns:a16="http://schemas.microsoft.com/office/drawing/2014/main" id="{33AA11F9-64CF-77E9-98BA-AB230C233860}"/>
              </a:ext>
            </a:extLst>
          </p:cNvPr>
          <p:cNvSpPr/>
          <p:nvPr/>
        </p:nvSpPr>
        <p:spPr>
          <a:xfrm>
            <a:off x="13612958" y="4484655"/>
            <a:ext cx="2252472" cy="804373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>
              <a:solidFill>
                <a:srgbClr val="C00000"/>
              </a:solidFill>
              <a:highlight>
                <a:srgbClr val="CE1C30"/>
              </a:highlight>
              <a:latin typeface="Aptos" panose="020B0004020202020204" pitchFamily="34" charset="0"/>
            </a:endParaRPr>
          </a:p>
        </p:txBody>
      </p:sp>
      <p:sp>
        <p:nvSpPr>
          <p:cNvPr id="117" name="CaixaDeTexto 14">
            <a:extLst>
              <a:ext uri="{FF2B5EF4-FFF2-40B4-BE49-F238E27FC236}">
                <a16:creationId xmlns:a16="http://schemas.microsoft.com/office/drawing/2014/main" id="{10BC978F-1BAB-F036-8E6D-8033627DADFB}"/>
              </a:ext>
            </a:extLst>
          </p:cNvPr>
          <p:cNvSpPr txBox="1"/>
          <p:nvPr/>
        </p:nvSpPr>
        <p:spPr>
          <a:xfrm>
            <a:off x="13759238" y="4620935"/>
            <a:ext cx="1959913" cy="531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3456" dirty="0">
                <a:solidFill>
                  <a:srgbClr val="0141B6"/>
                </a:solidFill>
                <a:latin typeface="Aptos" panose="020B0004020202020204" pitchFamily="34" charset="0"/>
                <a:ea typeface="Atyp Display" pitchFamily="2" charset="0"/>
              </a:rPr>
              <a:t>- 37%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943A042-4DEF-4F44-8BBD-D5D3D45958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894" y="2104351"/>
            <a:ext cx="1800000" cy="45176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806A58A-AE51-41BA-AB37-FD8F291A6F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448" y="2047579"/>
            <a:ext cx="1620000" cy="5769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28997D5-642C-446E-8839-80D0D948AA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9194" y="1957015"/>
            <a:ext cx="1980000" cy="64244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FA82760-5601-4DF6-BB2D-CEE04D638D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127" y="2126474"/>
            <a:ext cx="1800000" cy="419143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B739A16E-F89F-4CFA-BE9A-5097EF29D8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268" y="1971435"/>
            <a:ext cx="1620000" cy="576932"/>
          </a:xfrm>
          <a:prstGeom prst="rect">
            <a:avLst/>
          </a:prstGeom>
        </p:spPr>
      </p:pic>
      <p:sp>
        <p:nvSpPr>
          <p:cNvPr id="61" name="CaixaDeTexto 8">
            <a:extLst>
              <a:ext uri="{FF2B5EF4-FFF2-40B4-BE49-F238E27FC236}">
                <a16:creationId xmlns:a16="http://schemas.microsoft.com/office/drawing/2014/main" id="{8BC18E2C-43C4-40C8-A77E-1917FD7AF365}"/>
              </a:ext>
            </a:extLst>
          </p:cNvPr>
          <p:cNvSpPr txBox="1"/>
          <p:nvPr/>
        </p:nvSpPr>
        <p:spPr>
          <a:xfrm>
            <a:off x="8133268" y="7383324"/>
            <a:ext cx="2268000" cy="186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telemedicina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prof. dedicado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enfermeira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tecnologia exclusiva</a:t>
            </a:r>
          </a:p>
          <a:p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BigData</a:t>
            </a:r>
            <a:endParaRPr lang="pt-BR" sz="20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Atyp Display" pitchFamily="2" charset="0"/>
            </a:endParaRPr>
          </a:p>
        </p:txBody>
      </p:sp>
      <p:sp>
        <p:nvSpPr>
          <p:cNvPr id="62" name="CaixaDeTexto 8">
            <a:extLst>
              <a:ext uri="{FF2B5EF4-FFF2-40B4-BE49-F238E27FC236}">
                <a16:creationId xmlns:a16="http://schemas.microsoft.com/office/drawing/2014/main" id="{3CE141E7-9E8F-4F49-A714-662558256771}"/>
              </a:ext>
            </a:extLst>
          </p:cNvPr>
          <p:cNvSpPr txBox="1"/>
          <p:nvPr/>
        </p:nvSpPr>
        <p:spPr>
          <a:xfrm>
            <a:off x="10851894" y="7382484"/>
            <a:ext cx="2268000" cy="186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telemedicina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prof. dedicado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enfermeira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tecnologia exclusiva</a:t>
            </a:r>
          </a:p>
          <a:p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BigData</a:t>
            </a:r>
            <a:endParaRPr lang="pt-BR" sz="20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Atyp Display" pitchFamily="2" charset="0"/>
            </a:endParaRPr>
          </a:p>
        </p:txBody>
      </p:sp>
      <p:sp>
        <p:nvSpPr>
          <p:cNvPr id="63" name="CaixaDeTexto 8">
            <a:extLst>
              <a:ext uri="{FF2B5EF4-FFF2-40B4-BE49-F238E27FC236}">
                <a16:creationId xmlns:a16="http://schemas.microsoft.com/office/drawing/2014/main" id="{0076599D-50F1-409D-9BD3-735C7603AB13}"/>
              </a:ext>
            </a:extLst>
          </p:cNvPr>
          <p:cNvSpPr txBox="1"/>
          <p:nvPr/>
        </p:nvSpPr>
        <p:spPr>
          <a:xfrm>
            <a:off x="13605194" y="7391080"/>
            <a:ext cx="2268000" cy="1861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telemedicina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prof. dedicado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enfermeira</a:t>
            </a:r>
          </a:p>
          <a:p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+ tecnologia exclusiva</a:t>
            </a:r>
          </a:p>
          <a:p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Atyp Display" pitchFamily="2" charset="0"/>
              </a:rPr>
              <a:t>BigData</a:t>
            </a:r>
            <a:endParaRPr lang="pt-BR" sz="20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ea typeface="Atyp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947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4DD6390A-296A-48C7-BC18-440666B5CA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7241" y="565162"/>
            <a:ext cx="1491019" cy="55027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883110" y="315527"/>
            <a:ext cx="11463336" cy="101449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500" spc="600" dirty="0">
                <a:solidFill>
                  <a:srgbClr val="00B0F0"/>
                </a:solidFill>
                <a:latin typeface="Gobold Extra2" panose="02000500000000000000" pitchFamily="2" charset="0"/>
                <a:ea typeface="Atyp Display" pitchFamily="2" charset="0"/>
              </a:rPr>
              <a:t>ANÁLISE FINANCEIRA</a:t>
            </a:r>
          </a:p>
        </p:txBody>
      </p:sp>
      <p:sp>
        <p:nvSpPr>
          <p:cNvPr id="5" name="Retângulo: Cantos Arredondados 3">
            <a:extLst>
              <a:ext uri="{FF2B5EF4-FFF2-40B4-BE49-F238E27FC236}">
                <a16:creationId xmlns:a16="http://schemas.microsoft.com/office/drawing/2014/main" id="{36186C29-B505-6D34-7336-39071093D9AD}"/>
              </a:ext>
            </a:extLst>
          </p:cNvPr>
          <p:cNvSpPr/>
          <p:nvPr/>
        </p:nvSpPr>
        <p:spPr>
          <a:xfrm>
            <a:off x="0" y="1957138"/>
            <a:ext cx="2894240" cy="7756488"/>
          </a:xfrm>
          <a:prstGeom prst="roundRect">
            <a:avLst>
              <a:gd name="adj" fmla="val 32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/>
          </a:p>
        </p:txBody>
      </p:sp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736CDFEA-95E9-B89F-1641-2829EBD4E8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957182"/>
              </p:ext>
            </p:extLst>
          </p:nvPr>
        </p:nvGraphicFramePr>
        <p:xfrm>
          <a:off x="222503" y="2344600"/>
          <a:ext cx="17460002" cy="6840000"/>
        </p:xfrm>
        <a:graphic>
          <a:graphicData uri="http://schemas.openxmlformats.org/drawingml/2006/table">
            <a:tbl>
              <a:tblPr/>
              <a:tblGrid>
                <a:gridCol w="2644890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343844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  <a:gridCol w="2494367">
                  <a:extLst>
                    <a:ext uri="{9D8B030D-6E8A-4147-A177-3AD203B41FA5}">
                      <a16:colId xmlns:a16="http://schemas.microsoft.com/office/drawing/2014/main" val="2161287680"/>
                    </a:ext>
                  </a:extLst>
                </a:gridCol>
                <a:gridCol w="2494367">
                  <a:extLst>
                    <a:ext uri="{9D8B030D-6E8A-4147-A177-3AD203B41FA5}">
                      <a16:colId xmlns:a16="http://schemas.microsoft.com/office/drawing/2014/main" val="1948513445"/>
                    </a:ext>
                  </a:extLst>
                </a:gridCol>
                <a:gridCol w="2494367">
                  <a:extLst>
                    <a:ext uri="{9D8B030D-6E8A-4147-A177-3AD203B41FA5}">
                      <a16:colId xmlns:a16="http://schemas.microsoft.com/office/drawing/2014/main" val="3538555944"/>
                    </a:ext>
                  </a:extLst>
                </a:gridCol>
                <a:gridCol w="2494367">
                  <a:extLst>
                    <a:ext uri="{9D8B030D-6E8A-4147-A177-3AD203B41FA5}">
                      <a16:colId xmlns:a16="http://schemas.microsoft.com/office/drawing/2014/main" val="2988674231"/>
                    </a:ext>
                  </a:extLst>
                </a:gridCol>
                <a:gridCol w="2493800">
                  <a:extLst>
                    <a:ext uri="{9D8B030D-6E8A-4147-A177-3AD203B41FA5}">
                      <a16:colId xmlns:a16="http://schemas.microsoft.com/office/drawing/2014/main" val="277002483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Produto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S380 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Bronze Sp+ 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Direto Nacional 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Efetivo 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Número de Vidas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Custo Médio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R$657,85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R$386,65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R$673,60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R$763,98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R$5.920,65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R$3.479,85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R$6.062,40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R$6.875,82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Produto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S450 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Ouro 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Classico 100 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Efetivo Plus 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Número de Vidas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Custo Médio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R$1.034,14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R$862,47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R$1.027,52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R$963,04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R$22.751,08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R$18.974,34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R$22.605,44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R$21.186,88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Produto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S750 R1 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Platinum R1 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Especial 100 R1 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Nacional - (TN3P) 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Número de Vidas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Custo Médio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R$881,30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R$946,56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R$751,92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R$936,23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R$881,30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R$946,56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R$751,92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R$936,23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Produto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S2500 R2 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S6500 R3 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Prestige 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sng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Premium 10 - (TCNX) SC 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Número de Vidas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Custo Médio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R$2.353,49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R$4.659,36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R$4.162,37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R$4.962,05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R$7.060,47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R$13.978,08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R$12.487,11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/>
                        </a:rPr>
                        <a:t>R$14.886,15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960"/>
                        </a:lnSpc>
                      </a:pPr>
                      <a:endParaRPr lang="pt-BR" sz="18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Aptos" panose="020B0004020202020204" pitchFamily="34" charset="0"/>
                        <a:ea typeface="Atyp Display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6A33-0AE8-A78E-CE9E-E8B23151E231}"/>
              </a:ext>
            </a:extLst>
          </p:cNvPr>
          <p:cNvSpPr txBox="1"/>
          <p:nvPr/>
        </p:nvSpPr>
        <p:spPr>
          <a:xfrm>
            <a:off x="246135" y="9393962"/>
            <a:ext cx="2051874" cy="29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96" dirty="0">
                <a:solidFill>
                  <a:srgbClr val="FFFF00"/>
                </a:solidFill>
                <a:latin typeface="Atyp Display" pitchFamily="2" charset="0"/>
                <a:ea typeface="Atyp Display" pitchFamily="2" charset="0"/>
              </a:rPr>
              <a:t>*Sem coparticipação</a:t>
            </a:r>
          </a:p>
        </p:txBody>
      </p:sp>
      <p:cxnSp>
        <p:nvCxnSpPr>
          <p:cNvPr id="13" name="Conector Reto 1">
            <a:extLst>
              <a:ext uri="{FF2B5EF4-FFF2-40B4-BE49-F238E27FC236}">
                <a16:creationId xmlns:a16="http://schemas.microsoft.com/office/drawing/2014/main" id="{B3324273-C153-7483-5EF1-90D9C72E4076}"/>
              </a:ext>
            </a:extLst>
          </p:cNvPr>
          <p:cNvCxnSpPr>
            <a:cxnSpLocks/>
          </p:cNvCxnSpPr>
          <p:nvPr/>
        </p:nvCxnSpPr>
        <p:spPr>
          <a:xfrm>
            <a:off x="7789952" y="2323805"/>
            <a:ext cx="0" cy="7550445"/>
          </a:xfrm>
          <a:prstGeom prst="line">
            <a:avLst/>
          </a:prstGeom>
          <a:ln w="38100">
            <a:solidFill>
              <a:schemeClr val="bg1">
                <a:lumMod val="8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">
            <a:extLst>
              <a:ext uri="{FF2B5EF4-FFF2-40B4-BE49-F238E27FC236}">
                <a16:creationId xmlns:a16="http://schemas.microsoft.com/office/drawing/2014/main" id="{A4D38419-25CC-B402-09CF-16B565262CFA}"/>
              </a:ext>
            </a:extLst>
          </p:cNvPr>
          <p:cNvCxnSpPr>
            <a:cxnSpLocks/>
          </p:cNvCxnSpPr>
          <p:nvPr/>
        </p:nvCxnSpPr>
        <p:spPr>
          <a:xfrm>
            <a:off x="12699032" y="2323805"/>
            <a:ext cx="0" cy="7550445"/>
          </a:xfrm>
          <a:prstGeom prst="line">
            <a:avLst/>
          </a:prstGeom>
          <a:ln w="38100">
            <a:solidFill>
              <a:schemeClr val="bg1">
                <a:lumMod val="8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">
            <a:extLst>
              <a:ext uri="{FF2B5EF4-FFF2-40B4-BE49-F238E27FC236}">
                <a16:creationId xmlns:a16="http://schemas.microsoft.com/office/drawing/2014/main" id="{16F6B58D-AE5E-7313-8C3A-DDE36BE28665}"/>
              </a:ext>
            </a:extLst>
          </p:cNvPr>
          <p:cNvCxnSpPr>
            <a:cxnSpLocks/>
          </p:cNvCxnSpPr>
          <p:nvPr/>
        </p:nvCxnSpPr>
        <p:spPr>
          <a:xfrm>
            <a:off x="5260112" y="2323805"/>
            <a:ext cx="0" cy="7550445"/>
          </a:xfrm>
          <a:prstGeom prst="line">
            <a:avLst/>
          </a:prstGeom>
          <a:ln w="38100">
            <a:solidFill>
              <a:schemeClr val="bg1">
                <a:lumMod val="8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">
            <a:extLst>
              <a:ext uri="{FF2B5EF4-FFF2-40B4-BE49-F238E27FC236}">
                <a16:creationId xmlns:a16="http://schemas.microsoft.com/office/drawing/2014/main" id="{41281050-67A5-2A25-F697-45FCE8EEBC39}"/>
              </a:ext>
            </a:extLst>
          </p:cNvPr>
          <p:cNvCxnSpPr>
            <a:cxnSpLocks/>
          </p:cNvCxnSpPr>
          <p:nvPr/>
        </p:nvCxnSpPr>
        <p:spPr>
          <a:xfrm>
            <a:off x="10206176" y="2323805"/>
            <a:ext cx="0" cy="7550445"/>
          </a:xfrm>
          <a:prstGeom prst="line">
            <a:avLst/>
          </a:prstGeom>
          <a:ln w="38100">
            <a:solidFill>
              <a:schemeClr val="bg1">
                <a:lumMod val="8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m 18">
            <a:extLst>
              <a:ext uri="{FF2B5EF4-FFF2-40B4-BE49-F238E27FC236}">
                <a16:creationId xmlns:a16="http://schemas.microsoft.com/office/drawing/2014/main" id="{DCCE0C8A-636A-4790-B31B-ADFB2C117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758" y="1701058"/>
            <a:ext cx="1800000" cy="45176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FDAC09B-A6CE-4D1E-A758-0F3BC49EB1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360" y="1638474"/>
            <a:ext cx="1620000" cy="57693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5DABF55F-EF77-4B33-8698-2A05B703E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871" y="1605719"/>
            <a:ext cx="1980000" cy="64244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DEDA5B3A-F7BD-4A18-B661-ECE870DA00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486" y="1638474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18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4" y="0"/>
            <a:ext cx="17554222" cy="987425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pt-BR" sz="2592"/>
          </a:p>
        </p:txBody>
      </p:sp>
      <p:sp>
        <p:nvSpPr>
          <p:cNvPr id="5" name="Freeform 5"/>
          <p:cNvSpPr/>
          <p:nvPr/>
        </p:nvSpPr>
        <p:spPr>
          <a:xfrm>
            <a:off x="14393332" y="327897"/>
            <a:ext cx="1591495" cy="383303"/>
          </a:xfrm>
          <a:custGeom>
            <a:avLst/>
            <a:gdLst/>
            <a:ahLst/>
            <a:cxnLst/>
            <a:rect l="l" t="t" r="r" b="b"/>
            <a:pathLst>
              <a:path w="1479693" h="338206">
                <a:moveTo>
                  <a:pt x="0" y="0"/>
                </a:moveTo>
                <a:lnTo>
                  <a:pt x="1479693" y="0"/>
                </a:lnTo>
                <a:lnTo>
                  <a:pt x="1479693" y="338205"/>
                </a:lnTo>
                <a:lnTo>
                  <a:pt x="0" y="338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7618"/>
            </a:stretch>
          </a:blipFill>
        </p:spPr>
        <p:txBody>
          <a:bodyPr/>
          <a:lstStyle/>
          <a:p>
            <a:endParaRPr lang="pt-BR" sz="2592"/>
          </a:p>
        </p:txBody>
      </p:sp>
      <p:sp>
        <p:nvSpPr>
          <p:cNvPr id="6" name="Freeform 6"/>
          <p:cNvSpPr/>
          <p:nvPr/>
        </p:nvSpPr>
        <p:spPr>
          <a:xfrm>
            <a:off x="1296935" y="6165830"/>
            <a:ext cx="1122459" cy="200640"/>
          </a:xfrm>
          <a:custGeom>
            <a:avLst/>
            <a:gdLst/>
            <a:ahLst/>
            <a:cxnLst/>
            <a:rect l="l" t="t" r="r" b="b"/>
            <a:pathLst>
              <a:path w="779586" h="139351">
                <a:moveTo>
                  <a:pt x="0" y="0"/>
                </a:moveTo>
                <a:lnTo>
                  <a:pt x="779586" y="0"/>
                </a:lnTo>
                <a:lnTo>
                  <a:pt x="779586" y="139351"/>
                </a:lnTo>
                <a:lnTo>
                  <a:pt x="0" y="1393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2592"/>
          </a:p>
        </p:txBody>
      </p:sp>
      <p:grpSp>
        <p:nvGrpSpPr>
          <p:cNvPr id="7" name="Group 7"/>
          <p:cNvGrpSpPr/>
          <p:nvPr/>
        </p:nvGrpSpPr>
        <p:grpSpPr>
          <a:xfrm>
            <a:off x="1060483" y="3874951"/>
            <a:ext cx="3661763" cy="635361"/>
            <a:chOff x="0" y="0"/>
            <a:chExt cx="1004728" cy="174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4728" cy="174333"/>
            </a:xfrm>
            <a:custGeom>
              <a:avLst/>
              <a:gdLst/>
              <a:ahLst/>
              <a:cxnLst/>
              <a:rect l="l" t="t" r="r" b="b"/>
              <a:pathLst>
                <a:path w="1004728" h="174333">
                  <a:moveTo>
                    <a:pt x="87166" y="0"/>
                  </a:moveTo>
                  <a:lnTo>
                    <a:pt x="917562" y="0"/>
                  </a:lnTo>
                  <a:cubicBezTo>
                    <a:pt x="940680" y="0"/>
                    <a:pt x="962851" y="9184"/>
                    <a:pt x="979198" y="25530"/>
                  </a:cubicBezTo>
                  <a:cubicBezTo>
                    <a:pt x="995545" y="41877"/>
                    <a:pt x="1004728" y="64048"/>
                    <a:pt x="1004728" y="87166"/>
                  </a:cubicBezTo>
                  <a:lnTo>
                    <a:pt x="1004728" y="87166"/>
                  </a:lnTo>
                  <a:cubicBezTo>
                    <a:pt x="1004728" y="110284"/>
                    <a:pt x="995545" y="132455"/>
                    <a:pt x="979198" y="148802"/>
                  </a:cubicBezTo>
                  <a:cubicBezTo>
                    <a:pt x="962851" y="165149"/>
                    <a:pt x="940680" y="174333"/>
                    <a:pt x="917562" y="174333"/>
                  </a:cubicBezTo>
                  <a:lnTo>
                    <a:pt x="87166" y="174333"/>
                  </a:lnTo>
                  <a:cubicBezTo>
                    <a:pt x="64048" y="174333"/>
                    <a:pt x="41877" y="165149"/>
                    <a:pt x="25530" y="148802"/>
                  </a:cubicBezTo>
                  <a:cubicBezTo>
                    <a:pt x="9184" y="132455"/>
                    <a:pt x="0" y="110284"/>
                    <a:pt x="0" y="87166"/>
                  </a:cubicBezTo>
                  <a:lnTo>
                    <a:pt x="0" y="87166"/>
                  </a:lnTo>
                  <a:cubicBezTo>
                    <a:pt x="0" y="64048"/>
                    <a:pt x="9184" y="41877"/>
                    <a:pt x="25530" y="25530"/>
                  </a:cubicBezTo>
                  <a:cubicBezTo>
                    <a:pt x="41877" y="9184"/>
                    <a:pt x="64048" y="0"/>
                    <a:pt x="871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pt-BR" sz="2592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004728" cy="231483"/>
            </a:xfrm>
            <a:prstGeom prst="rect">
              <a:avLst/>
            </a:prstGeom>
          </p:spPr>
          <p:txBody>
            <a:bodyPr lIns="73143" tIns="73143" rIns="73143" bIns="73143" rtlCol="0" anchor="ctr"/>
            <a:lstStyle/>
            <a:p>
              <a:pPr algn="ctr">
                <a:lnSpc>
                  <a:spcPts val="2929"/>
                </a:lnSpc>
              </a:pPr>
              <a:endParaRPr sz="2592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62862" y="4497273"/>
            <a:ext cx="10433962" cy="143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39"/>
              </a:lnSpc>
              <a:spcBef>
                <a:spcPct val="0"/>
              </a:spcBef>
            </a:pPr>
            <a:r>
              <a:rPr lang="en-US" sz="8528" b="1">
                <a:solidFill>
                  <a:srgbClr val="FAB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 Bold"/>
              </a:rPr>
              <a:t>REDE DE HOSPITAIS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7758" y="3982034"/>
            <a:ext cx="2871987" cy="421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"/>
              </a:rPr>
              <a:t>APRESENTAÇÃO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84066" y="6004175"/>
            <a:ext cx="8639086" cy="46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03"/>
              </a:lnSpc>
              <a:spcBef>
                <a:spcPct val="0"/>
              </a:spcBef>
            </a:pPr>
            <a:r>
              <a:rPr lang="en-US" sz="2787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"/>
              </a:rPr>
              <a:t>MELHOR ÍNDICE DE AVALIAÇÃO PELOS USUÁRIOS</a:t>
            </a:r>
          </a:p>
        </p:txBody>
      </p:sp>
    </p:spTree>
    <p:extLst>
      <p:ext uri="{BB962C8B-B14F-4D97-AF65-F5344CB8AC3E}">
        <p14:creationId xmlns:p14="http://schemas.microsoft.com/office/powerpoint/2010/main" val="3897173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07959"/>
              </p:ext>
            </p:extLst>
          </p:nvPr>
        </p:nvGraphicFramePr>
        <p:xfrm>
          <a:off x="541363" y="2343150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LIBERDADE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VITORIA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ALVORADA MOEMA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MORUMBI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SAMARITANO PAULISTA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NIPO BRASILEIRO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SEPACO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DO RIM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METROPOLITANO LAPA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 PAOLO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INGLES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IBCC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BLANC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MATER SANTA MARIA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VIRGINIA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RUBEN BERTA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PAULISTANO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GRAACC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CEMA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331608" y="1893210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S380 E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São Paulo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20 | Básico 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7FFBC13C-D583-4F68-9B55-716101F79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86" y="1205595"/>
            <a:ext cx="1620000" cy="576932"/>
          </a:xfrm>
          <a:prstGeom prst="rect">
            <a:avLst/>
          </a:prstGeom>
        </p:spPr>
      </p:pic>
      <p:graphicFrame>
        <p:nvGraphicFramePr>
          <p:cNvPr id="27" name="Tabela 11">
            <a:extLst>
              <a:ext uri="{FF2B5EF4-FFF2-40B4-BE49-F238E27FC236}">
                <a16:creationId xmlns:a16="http://schemas.microsoft.com/office/drawing/2014/main" id="{2A2908A9-4A59-484B-83EE-21BDA6F0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371901"/>
              </p:ext>
            </p:extLst>
          </p:nvPr>
        </p:nvGraphicFramePr>
        <p:xfrm>
          <a:off x="10804914" y="2354873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LUIZ JABAQUARA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SANTANA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LIBERDADE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VITORIA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VILLA LOBOS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ALVORADA MOEMA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MORUMBI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DA CRIANCA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SAMARITANO PAULISTA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NIPO BRASILEIRO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CENTRAL DO TATUAPÉ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SEPACO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DO RIM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METROPOLITANO LAPA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 PAOLO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INGLES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IBCC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BLANC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28" name="Conector Reto 1">
            <a:extLst>
              <a:ext uri="{FF2B5EF4-FFF2-40B4-BE49-F238E27FC236}">
                <a16:creationId xmlns:a16="http://schemas.microsoft.com/office/drawing/2014/main" id="{E65AFBA9-CCBF-4C52-A752-7C06692013C1}"/>
              </a:ext>
            </a:extLst>
          </p:cNvPr>
          <p:cNvCxnSpPr>
            <a:cxnSpLocks/>
          </p:cNvCxnSpPr>
          <p:nvPr/>
        </p:nvCxnSpPr>
        <p:spPr>
          <a:xfrm>
            <a:off x="16554150" y="2354873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14">
            <a:extLst>
              <a:ext uri="{FF2B5EF4-FFF2-40B4-BE49-F238E27FC236}">
                <a16:creationId xmlns:a16="http://schemas.microsoft.com/office/drawing/2014/main" id="{2E21717F-FC73-4BBA-9140-23F16144586E}"/>
              </a:ext>
            </a:extLst>
          </p:cNvPr>
          <p:cNvSpPr txBox="1"/>
          <p:nvPr/>
        </p:nvSpPr>
        <p:spPr>
          <a:xfrm>
            <a:off x="14595159" y="1887348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S450 E</a:t>
            </a:r>
          </a:p>
        </p:txBody>
      </p:sp>
      <p:sp>
        <p:nvSpPr>
          <p:cNvPr id="30" name="CaixaDeTexto 4">
            <a:extLst>
              <a:ext uri="{FF2B5EF4-FFF2-40B4-BE49-F238E27FC236}">
                <a16:creationId xmlns:a16="http://schemas.microsoft.com/office/drawing/2014/main" id="{C4CDA79D-4E7F-4028-8E2B-031F79371A22}"/>
              </a:ext>
            </a:extLst>
          </p:cNvPr>
          <p:cNvSpPr txBox="1"/>
          <p:nvPr/>
        </p:nvSpPr>
        <p:spPr>
          <a:xfrm>
            <a:off x="10675553" y="1583199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20 | Básico 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846ECE8B-574F-4201-9AB1-5BDDB4D18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2637" y="1199733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33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100842"/>
              </p:ext>
            </p:extLst>
          </p:nvPr>
        </p:nvGraphicFramePr>
        <p:xfrm>
          <a:off x="541363" y="2343150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BENEF PORTUGUESA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BARTIRA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DR CHRISTOVAO DA GAMA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NOTRECARE ABC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NEOMATER - SANTA MARCELINA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SAO BERNARDO - HAPVIDA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DE OLHOS PAULISTA - CERPO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SANTA HELENA - SBC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MATERNIDADE CENTRAL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BENEF PORTUGUESA - SCS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331608" y="1893210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S380 E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Demais localidades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7FFBC13C-D583-4F68-9B55-716101F79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86" y="1205595"/>
            <a:ext cx="1620000" cy="576932"/>
          </a:xfrm>
          <a:prstGeom prst="rect">
            <a:avLst/>
          </a:prstGeom>
        </p:spPr>
      </p:pic>
      <p:graphicFrame>
        <p:nvGraphicFramePr>
          <p:cNvPr id="27" name="Tabela 11">
            <a:extLst>
              <a:ext uri="{FF2B5EF4-FFF2-40B4-BE49-F238E27FC236}">
                <a16:creationId xmlns:a16="http://schemas.microsoft.com/office/drawing/2014/main" id="{2A2908A9-4A59-484B-83EE-21BDA6F0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674179"/>
              </p:ext>
            </p:extLst>
          </p:nvPr>
        </p:nvGraphicFramePr>
        <p:xfrm>
          <a:off x="10804914" y="2354873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BENEF PORTUGUESA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BARTIRA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DR CHRISTOVAO DA GAMA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NOTRECARE ABC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NEOMATER - SANTA MARCELINA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SAO BERNARDO - HAPVIDA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DE OLHOS PAULISTA - CERPO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SANTA HELENA – SBC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ASSUNCAO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IFOR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MATERNIDADE CENTRAL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BENEF PORTUGUESA - SCS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28" name="Conector Reto 1">
            <a:extLst>
              <a:ext uri="{FF2B5EF4-FFF2-40B4-BE49-F238E27FC236}">
                <a16:creationId xmlns:a16="http://schemas.microsoft.com/office/drawing/2014/main" id="{E65AFBA9-CCBF-4C52-A752-7C06692013C1}"/>
              </a:ext>
            </a:extLst>
          </p:cNvPr>
          <p:cNvCxnSpPr>
            <a:cxnSpLocks/>
          </p:cNvCxnSpPr>
          <p:nvPr/>
        </p:nvCxnSpPr>
        <p:spPr>
          <a:xfrm>
            <a:off x="16554150" y="2354873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14">
            <a:extLst>
              <a:ext uri="{FF2B5EF4-FFF2-40B4-BE49-F238E27FC236}">
                <a16:creationId xmlns:a16="http://schemas.microsoft.com/office/drawing/2014/main" id="{2E21717F-FC73-4BBA-9140-23F16144586E}"/>
              </a:ext>
            </a:extLst>
          </p:cNvPr>
          <p:cNvSpPr txBox="1"/>
          <p:nvPr/>
        </p:nvSpPr>
        <p:spPr>
          <a:xfrm>
            <a:off x="14595159" y="1887348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S450 E</a:t>
            </a:r>
          </a:p>
        </p:txBody>
      </p:sp>
      <p:sp>
        <p:nvSpPr>
          <p:cNvPr id="30" name="CaixaDeTexto 4">
            <a:extLst>
              <a:ext uri="{FF2B5EF4-FFF2-40B4-BE49-F238E27FC236}">
                <a16:creationId xmlns:a16="http://schemas.microsoft.com/office/drawing/2014/main" id="{C4CDA79D-4E7F-4028-8E2B-031F79371A22}"/>
              </a:ext>
            </a:extLst>
          </p:cNvPr>
          <p:cNvSpPr txBox="1"/>
          <p:nvPr/>
        </p:nvSpPr>
        <p:spPr>
          <a:xfrm>
            <a:off x="10675553" y="1583199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846ECE8B-574F-4201-9AB1-5BDDB4D18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2637" y="1199733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48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236289"/>
              </p:ext>
            </p:extLst>
          </p:nvPr>
        </p:nvGraphicFramePr>
        <p:xfrm>
          <a:off x="541363" y="2343150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VITORIA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METROPOLITANO LAPA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INGLES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PAULISTANO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GRAACC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CLARA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DA LUZ - VILA MARIANA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DA LUZ - SANTO AMARO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DA LUZ - BUTANTA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OPHTHAL HOSP ESPECIALIZADO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VERA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AMIL ESPAÇO SAÚDE TATUAPE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AMIL ESPAÇO SAÚDE SANTANA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PRO MATER SANTO ANTONIO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endParaRPr lang="pt-BR" sz="16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331608" y="1893210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Bronze SP + E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São Paulo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7FFBC13C-D583-4F68-9B55-716101F79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86" y="1205595"/>
            <a:ext cx="1620000" cy="576932"/>
          </a:xfrm>
          <a:prstGeom prst="rect">
            <a:avLst/>
          </a:prstGeom>
        </p:spPr>
      </p:pic>
      <p:graphicFrame>
        <p:nvGraphicFramePr>
          <p:cNvPr id="27" name="Tabela 11">
            <a:extLst>
              <a:ext uri="{FF2B5EF4-FFF2-40B4-BE49-F238E27FC236}">
                <a16:creationId xmlns:a16="http://schemas.microsoft.com/office/drawing/2014/main" id="{2A2908A9-4A59-484B-83EE-21BDA6F0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940667"/>
              </p:ext>
            </p:extLst>
          </p:nvPr>
        </p:nvGraphicFramePr>
        <p:xfrm>
          <a:off x="10804914" y="2354873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SANTANA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POMPEIA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IPIRANGA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LIBERDADE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VITORIA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ALVORADA MOEMA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PAULA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MORUMBI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SAMARITANO PAULISTA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NIPO BRASILEIRO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SEPACO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METROPOLITANO LAPA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 PAOLO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INGLES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BLANC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MATER SANTA MARIA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VIRGINIA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PAULISTANO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28" name="Conector Reto 1">
            <a:extLst>
              <a:ext uri="{FF2B5EF4-FFF2-40B4-BE49-F238E27FC236}">
                <a16:creationId xmlns:a16="http://schemas.microsoft.com/office/drawing/2014/main" id="{E65AFBA9-CCBF-4C52-A752-7C06692013C1}"/>
              </a:ext>
            </a:extLst>
          </p:cNvPr>
          <p:cNvCxnSpPr>
            <a:cxnSpLocks/>
          </p:cNvCxnSpPr>
          <p:nvPr/>
        </p:nvCxnSpPr>
        <p:spPr>
          <a:xfrm>
            <a:off x="16554150" y="2354873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14">
            <a:extLst>
              <a:ext uri="{FF2B5EF4-FFF2-40B4-BE49-F238E27FC236}">
                <a16:creationId xmlns:a16="http://schemas.microsoft.com/office/drawing/2014/main" id="{2E21717F-FC73-4BBA-9140-23F16144586E}"/>
              </a:ext>
            </a:extLst>
          </p:cNvPr>
          <p:cNvSpPr txBox="1"/>
          <p:nvPr/>
        </p:nvSpPr>
        <p:spPr>
          <a:xfrm>
            <a:off x="14595159" y="1887348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Ouro E</a:t>
            </a:r>
          </a:p>
        </p:txBody>
      </p:sp>
      <p:sp>
        <p:nvSpPr>
          <p:cNvPr id="30" name="CaixaDeTexto 4">
            <a:extLst>
              <a:ext uri="{FF2B5EF4-FFF2-40B4-BE49-F238E27FC236}">
                <a16:creationId xmlns:a16="http://schemas.microsoft.com/office/drawing/2014/main" id="{C4CDA79D-4E7F-4028-8E2B-031F79371A22}"/>
              </a:ext>
            </a:extLst>
          </p:cNvPr>
          <p:cNvSpPr txBox="1"/>
          <p:nvPr/>
        </p:nvSpPr>
        <p:spPr>
          <a:xfrm>
            <a:off x="10675553" y="1583199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20 | Básico 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846ECE8B-574F-4201-9AB1-5BDDB4D18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2637" y="1217318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90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39636"/>
              </p:ext>
            </p:extLst>
          </p:nvPr>
        </p:nvGraphicFramePr>
        <p:xfrm>
          <a:off x="541363" y="2343150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DR CHRISTOVAO DA GAMA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CENTRO DE TRAT BEZERRA DE MENEZES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SANTA HELENA - SBC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MATERNIDADE CENTRAL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331608" y="1893210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Bronze SP + E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Demais localidades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7FFBC13C-D583-4F68-9B55-716101F79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86" y="1205595"/>
            <a:ext cx="1620000" cy="576932"/>
          </a:xfrm>
          <a:prstGeom prst="rect">
            <a:avLst/>
          </a:prstGeom>
        </p:spPr>
      </p:pic>
      <p:graphicFrame>
        <p:nvGraphicFramePr>
          <p:cNvPr id="27" name="Tabela 11">
            <a:extLst>
              <a:ext uri="{FF2B5EF4-FFF2-40B4-BE49-F238E27FC236}">
                <a16:creationId xmlns:a16="http://schemas.microsoft.com/office/drawing/2014/main" id="{2A2908A9-4A59-484B-83EE-21BDA6F0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5567"/>
              </p:ext>
            </p:extLst>
          </p:nvPr>
        </p:nvGraphicFramePr>
        <p:xfrm>
          <a:off x="10804914" y="2354873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BENEF PORTUGUESA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DR CHRISTOVAO DA GAMA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NOTRECARE ABC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NEOMATER - SANTA MARCELINA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SAO BERNARDO - HAPVIDA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DE OLHOS PAULISTA - CERPO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SANTA HELENA - SBC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MATERNIDADE CENTRAL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BENEF PORTUGUESA - SCS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28" name="Conector Reto 1">
            <a:extLst>
              <a:ext uri="{FF2B5EF4-FFF2-40B4-BE49-F238E27FC236}">
                <a16:creationId xmlns:a16="http://schemas.microsoft.com/office/drawing/2014/main" id="{E65AFBA9-CCBF-4C52-A752-7C06692013C1}"/>
              </a:ext>
            </a:extLst>
          </p:cNvPr>
          <p:cNvCxnSpPr>
            <a:cxnSpLocks/>
          </p:cNvCxnSpPr>
          <p:nvPr/>
        </p:nvCxnSpPr>
        <p:spPr>
          <a:xfrm>
            <a:off x="16554150" y="2354873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14">
            <a:extLst>
              <a:ext uri="{FF2B5EF4-FFF2-40B4-BE49-F238E27FC236}">
                <a16:creationId xmlns:a16="http://schemas.microsoft.com/office/drawing/2014/main" id="{2E21717F-FC73-4BBA-9140-23F16144586E}"/>
              </a:ext>
            </a:extLst>
          </p:cNvPr>
          <p:cNvSpPr txBox="1"/>
          <p:nvPr/>
        </p:nvSpPr>
        <p:spPr>
          <a:xfrm>
            <a:off x="14595159" y="1887348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Ouro E</a:t>
            </a:r>
          </a:p>
        </p:txBody>
      </p:sp>
      <p:sp>
        <p:nvSpPr>
          <p:cNvPr id="30" name="CaixaDeTexto 4">
            <a:extLst>
              <a:ext uri="{FF2B5EF4-FFF2-40B4-BE49-F238E27FC236}">
                <a16:creationId xmlns:a16="http://schemas.microsoft.com/office/drawing/2014/main" id="{C4CDA79D-4E7F-4028-8E2B-031F79371A22}"/>
              </a:ext>
            </a:extLst>
          </p:cNvPr>
          <p:cNvSpPr txBox="1"/>
          <p:nvPr/>
        </p:nvSpPr>
        <p:spPr>
          <a:xfrm>
            <a:off x="10675553" y="1583199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846ECE8B-574F-4201-9AB1-5BDDB4D18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2637" y="1217318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63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442210"/>
              </p:ext>
            </p:extLst>
          </p:nvPr>
        </p:nvGraphicFramePr>
        <p:xfrm>
          <a:off x="541363" y="2343150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LUIZ JABAQUARA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LIBERDADE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VILLA LOBOS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PAULA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MORUMBI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DA CRIANCA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NIPO BRASILEIRO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CENTRAL DO TATUAPÉ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SEPACO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ALBERT SABIN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DO RIM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IBCC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BLANC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MATER SANTA MARIA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RUBEN BERTA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GRAACC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CEMA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CASA DE SAUDE SANTA MARCELINA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CENTRAL LESTE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067836" y="1928380"/>
            <a:ext cx="2232000" cy="360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Direto Nacional E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São Paulo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20 | Básico </a:t>
            </a:r>
          </a:p>
        </p:txBody>
      </p:sp>
      <p:graphicFrame>
        <p:nvGraphicFramePr>
          <p:cNvPr id="27" name="Tabela 11">
            <a:extLst>
              <a:ext uri="{FF2B5EF4-FFF2-40B4-BE49-F238E27FC236}">
                <a16:creationId xmlns:a16="http://schemas.microsoft.com/office/drawing/2014/main" id="{2A2908A9-4A59-484B-83EE-21BDA6F0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637042"/>
              </p:ext>
            </p:extLst>
          </p:nvPr>
        </p:nvGraphicFramePr>
        <p:xfrm>
          <a:off x="10804914" y="2354873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LUIZ JABAQUARA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A. C. CAMARGO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MAT. SANTA JOANA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CATARINA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SANTANA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POMPEIA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IPIRANGA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LIBERDADE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VILLA LOBOS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ALVORADA MOEMA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INCOR - INSTITUTO DO CORACAO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PAULA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MORUMBI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DA CRIANCA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NIPO BRASILEIRO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CENTRAL DO TATUAPÉ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SEPACO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E MAT SÃO RAFAEL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28" name="Conector Reto 1">
            <a:extLst>
              <a:ext uri="{FF2B5EF4-FFF2-40B4-BE49-F238E27FC236}">
                <a16:creationId xmlns:a16="http://schemas.microsoft.com/office/drawing/2014/main" id="{E65AFBA9-CCBF-4C52-A752-7C06692013C1}"/>
              </a:ext>
            </a:extLst>
          </p:cNvPr>
          <p:cNvCxnSpPr>
            <a:cxnSpLocks/>
          </p:cNvCxnSpPr>
          <p:nvPr/>
        </p:nvCxnSpPr>
        <p:spPr>
          <a:xfrm>
            <a:off x="16554150" y="2354873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14">
            <a:extLst>
              <a:ext uri="{FF2B5EF4-FFF2-40B4-BE49-F238E27FC236}">
                <a16:creationId xmlns:a16="http://schemas.microsoft.com/office/drawing/2014/main" id="{2E21717F-FC73-4BBA-9140-23F16144586E}"/>
              </a:ext>
            </a:extLst>
          </p:cNvPr>
          <p:cNvSpPr txBox="1"/>
          <p:nvPr/>
        </p:nvSpPr>
        <p:spPr>
          <a:xfrm>
            <a:off x="14507233" y="1940103"/>
            <a:ext cx="1872000" cy="360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Clássico 100 E</a:t>
            </a:r>
          </a:p>
        </p:txBody>
      </p:sp>
      <p:sp>
        <p:nvSpPr>
          <p:cNvPr id="30" name="CaixaDeTexto 4">
            <a:extLst>
              <a:ext uri="{FF2B5EF4-FFF2-40B4-BE49-F238E27FC236}">
                <a16:creationId xmlns:a16="http://schemas.microsoft.com/office/drawing/2014/main" id="{C4CDA79D-4E7F-4028-8E2B-031F79371A22}"/>
              </a:ext>
            </a:extLst>
          </p:cNvPr>
          <p:cNvSpPr txBox="1"/>
          <p:nvPr/>
        </p:nvSpPr>
        <p:spPr>
          <a:xfrm>
            <a:off x="10675553" y="1583199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20 | Básico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6815666-5231-4CE8-9215-BEE256BD4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853" y="1317296"/>
            <a:ext cx="1800000" cy="45176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BFA66E4-97F7-4D1A-8A2E-790F70170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37" y="1324902"/>
            <a:ext cx="1800000" cy="45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50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459489"/>
              </p:ext>
            </p:extLst>
          </p:nvPr>
        </p:nvGraphicFramePr>
        <p:xfrm>
          <a:off x="541363" y="2343150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 BRASIL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BARTIRA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ASSUNCAO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IFOR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BENEF PORTUGUESA - SCS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067836" y="1928380"/>
            <a:ext cx="2232000" cy="360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Direto Nacional E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Demais localidades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graphicFrame>
        <p:nvGraphicFramePr>
          <p:cNvPr id="27" name="Tabela 11">
            <a:extLst>
              <a:ext uri="{FF2B5EF4-FFF2-40B4-BE49-F238E27FC236}">
                <a16:creationId xmlns:a16="http://schemas.microsoft.com/office/drawing/2014/main" id="{2A2908A9-4A59-484B-83EE-21BDA6F0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374819"/>
              </p:ext>
            </p:extLst>
          </p:nvPr>
        </p:nvGraphicFramePr>
        <p:xfrm>
          <a:off x="10804914" y="2354873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 BRASIL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DAY HOSPITAL ANA ROSA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BARTIRA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DR CHRISTOVAO DA GAMA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lang="pt-BR" sz="1050" b="0" i="0" u="none" strike="noStrike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ASSUNCAO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NOTRECARE ABC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SAO BERNARDO - HAPVIDA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IFOR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DE OLHOS PAULISTA - CERPO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DE OLHOS ABC - CERPO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BENEF PORTUGUESA - SCS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it-IT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DI THIENE SAO CAETANO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SAO LUIZ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28" name="Conector Reto 1">
            <a:extLst>
              <a:ext uri="{FF2B5EF4-FFF2-40B4-BE49-F238E27FC236}">
                <a16:creationId xmlns:a16="http://schemas.microsoft.com/office/drawing/2014/main" id="{E65AFBA9-CCBF-4C52-A752-7C06692013C1}"/>
              </a:ext>
            </a:extLst>
          </p:cNvPr>
          <p:cNvCxnSpPr>
            <a:cxnSpLocks/>
          </p:cNvCxnSpPr>
          <p:nvPr/>
        </p:nvCxnSpPr>
        <p:spPr>
          <a:xfrm>
            <a:off x="16554150" y="2354873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14">
            <a:extLst>
              <a:ext uri="{FF2B5EF4-FFF2-40B4-BE49-F238E27FC236}">
                <a16:creationId xmlns:a16="http://schemas.microsoft.com/office/drawing/2014/main" id="{2E21717F-FC73-4BBA-9140-23F16144586E}"/>
              </a:ext>
            </a:extLst>
          </p:cNvPr>
          <p:cNvSpPr txBox="1"/>
          <p:nvPr/>
        </p:nvSpPr>
        <p:spPr>
          <a:xfrm>
            <a:off x="14507233" y="1940103"/>
            <a:ext cx="1872000" cy="360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Clássico 100 E</a:t>
            </a:r>
          </a:p>
        </p:txBody>
      </p:sp>
      <p:sp>
        <p:nvSpPr>
          <p:cNvPr id="30" name="CaixaDeTexto 4">
            <a:extLst>
              <a:ext uri="{FF2B5EF4-FFF2-40B4-BE49-F238E27FC236}">
                <a16:creationId xmlns:a16="http://schemas.microsoft.com/office/drawing/2014/main" id="{C4CDA79D-4E7F-4028-8E2B-031F79371A22}"/>
              </a:ext>
            </a:extLst>
          </p:cNvPr>
          <p:cNvSpPr txBox="1"/>
          <p:nvPr/>
        </p:nvSpPr>
        <p:spPr>
          <a:xfrm>
            <a:off x="10675553" y="1583199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6815666-5231-4CE8-9215-BEE256BD4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853" y="1317296"/>
            <a:ext cx="1800000" cy="45176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BFA66E4-97F7-4D1A-8A2E-790F70170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737" y="1324902"/>
            <a:ext cx="1800000" cy="45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35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121325"/>
              </p:ext>
            </p:extLst>
          </p:nvPr>
        </p:nvGraphicFramePr>
        <p:xfrm>
          <a:off x="541363" y="2343150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A. C. CAMARGO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SANTANA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IPIRANGA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LIBERDADE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VITORIA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ALVORADA MOEMA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NIPO BRASILEIRO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SEPACO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DO RIM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METROPOLITANO LAPA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IBCC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MATER SANTA MARIA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RUBEN BERTA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PAULISTANO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GRAACC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CEMA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CASA DE SAUDE SANTA MARCELINA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E MATERNIDADE VIDAS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067836" y="1928380"/>
            <a:ext cx="2232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Efetivo E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São Paulo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20 | Básico </a:t>
            </a:r>
          </a:p>
        </p:txBody>
      </p:sp>
      <p:graphicFrame>
        <p:nvGraphicFramePr>
          <p:cNvPr id="27" name="Tabela 11">
            <a:extLst>
              <a:ext uri="{FF2B5EF4-FFF2-40B4-BE49-F238E27FC236}">
                <a16:creationId xmlns:a16="http://schemas.microsoft.com/office/drawing/2014/main" id="{2A2908A9-4A59-484B-83EE-21BDA6F0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857439"/>
              </p:ext>
            </p:extLst>
          </p:nvPr>
        </p:nvGraphicFramePr>
        <p:xfrm>
          <a:off x="10804914" y="2354873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LUIZ JABAQUARA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SANTANA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IPIRANGA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LIBERDADE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VITORIA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VILLA LOBOS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ALVORADA MOEMA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INCOR - INSTITUTO DO CORACAO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PAULA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EDMUNDO VASCONCELOS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MORUMBI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DA CRIANCA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SAMARITANO PAULISTA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NIPO BRASILEIRO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CENTRAL DO TATUAPÉ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ALBERT SABIN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METROPOLITANO LAPA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 PAOLO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28" name="Conector Reto 1">
            <a:extLst>
              <a:ext uri="{FF2B5EF4-FFF2-40B4-BE49-F238E27FC236}">
                <a16:creationId xmlns:a16="http://schemas.microsoft.com/office/drawing/2014/main" id="{E65AFBA9-CCBF-4C52-A752-7C06692013C1}"/>
              </a:ext>
            </a:extLst>
          </p:cNvPr>
          <p:cNvCxnSpPr>
            <a:cxnSpLocks/>
          </p:cNvCxnSpPr>
          <p:nvPr/>
        </p:nvCxnSpPr>
        <p:spPr>
          <a:xfrm>
            <a:off x="16554150" y="2354873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14">
            <a:extLst>
              <a:ext uri="{FF2B5EF4-FFF2-40B4-BE49-F238E27FC236}">
                <a16:creationId xmlns:a16="http://schemas.microsoft.com/office/drawing/2014/main" id="{2E21717F-FC73-4BBA-9140-23F16144586E}"/>
              </a:ext>
            </a:extLst>
          </p:cNvPr>
          <p:cNvSpPr txBox="1"/>
          <p:nvPr/>
        </p:nvSpPr>
        <p:spPr>
          <a:xfrm>
            <a:off x="14507233" y="1940103"/>
            <a:ext cx="1872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Efetivo Plus E</a:t>
            </a:r>
          </a:p>
        </p:txBody>
      </p:sp>
      <p:sp>
        <p:nvSpPr>
          <p:cNvPr id="30" name="CaixaDeTexto 4">
            <a:extLst>
              <a:ext uri="{FF2B5EF4-FFF2-40B4-BE49-F238E27FC236}">
                <a16:creationId xmlns:a16="http://schemas.microsoft.com/office/drawing/2014/main" id="{C4CDA79D-4E7F-4028-8E2B-031F79371A22}"/>
              </a:ext>
            </a:extLst>
          </p:cNvPr>
          <p:cNvSpPr txBox="1"/>
          <p:nvPr/>
        </p:nvSpPr>
        <p:spPr>
          <a:xfrm>
            <a:off x="10675553" y="1583199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20 | Básico 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CFC4229-27A2-4BA3-8653-91E53F25E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05" y="1140156"/>
            <a:ext cx="1980000" cy="64244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77E17E5-9A0A-45DD-92A2-0DD285D3E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0025" y="1131639"/>
            <a:ext cx="1980000" cy="6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24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42693"/>
              </p:ext>
            </p:extLst>
          </p:nvPr>
        </p:nvGraphicFramePr>
        <p:xfrm>
          <a:off x="541363" y="2343150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BENEF PORTUGUESA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DR CHRISTOVAO DA GAMA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NEOMATER - SANTA MARCELINA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SAO BERNARDO - HAPVIDA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IFOR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BENEF PORTUGUESA - SCS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067836" y="1928380"/>
            <a:ext cx="2232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Efetivo E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Demais localidades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graphicFrame>
        <p:nvGraphicFramePr>
          <p:cNvPr id="27" name="Tabela 11">
            <a:extLst>
              <a:ext uri="{FF2B5EF4-FFF2-40B4-BE49-F238E27FC236}">
                <a16:creationId xmlns:a16="http://schemas.microsoft.com/office/drawing/2014/main" id="{2A2908A9-4A59-484B-83EE-21BDA6F0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762767"/>
              </p:ext>
            </p:extLst>
          </p:nvPr>
        </p:nvGraphicFramePr>
        <p:xfrm>
          <a:off x="10804914" y="2354873"/>
          <a:ext cx="590965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BENEF PORTUGUESA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MATE BRASIL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BARTIRA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DR CHRISTOVAO DA GAMA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ASSUNCAO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NEOMATER - SANTA MARCELINA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SAO BERNARDO - HAPVIDA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BENEF PORTUGUESA - SCS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28" name="Conector Reto 1">
            <a:extLst>
              <a:ext uri="{FF2B5EF4-FFF2-40B4-BE49-F238E27FC236}">
                <a16:creationId xmlns:a16="http://schemas.microsoft.com/office/drawing/2014/main" id="{E65AFBA9-CCBF-4C52-A752-7C06692013C1}"/>
              </a:ext>
            </a:extLst>
          </p:cNvPr>
          <p:cNvCxnSpPr>
            <a:cxnSpLocks/>
          </p:cNvCxnSpPr>
          <p:nvPr/>
        </p:nvCxnSpPr>
        <p:spPr>
          <a:xfrm>
            <a:off x="16554150" y="2354873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14">
            <a:extLst>
              <a:ext uri="{FF2B5EF4-FFF2-40B4-BE49-F238E27FC236}">
                <a16:creationId xmlns:a16="http://schemas.microsoft.com/office/drawing/2014/main" id="{2E21717F-FC73-4BBA-9140-23F16144586E}"/>
              </a:ext>
            </a:extLst>
          </p:cNvPr>
          <p:cNvSpPr txBox="1"/>
          <p:nvPr/>
        </p:nvSpPr>
        <p:spPr>
          <a:xfrm>
            <a:off x="14507233" y="1940103"/>
            <a:ext cx="1872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Efetivo Plus E</a:t>
            </a:r>
          </a:p>
        </p:txBody>
      </p:sp>
      <p:sp>
        <p:nvSpPr>
          <p:cNvPr id="30" name="CaixaDeTexto 4">
            <a:extLst>
              <a:ext uri="{FF2B5EF4-FFF2-40B4-BE49-F238E27FC236}">
                <a16:creationId xmlns:a16="http://schemas.microsoft.com/office/drawing/2014/main" id="{C4CDA79D-4E7F-4028-8E2B-031F79371A22}"/>
              </a:ext>
            </a:extLst>
          </p:cNvPr>
          <p:cNvSpPr txBox="1"/>
          <p:nvPr/>
        </p:nvSpPr>
        <p:spPr>
          <a:xfrm>
            <a:off x="10675553" y="1583199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CFC4229-27A2-4BA3-8653-91E53F25E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05" y="1140156"/>
            <a:ext cx="1980000" cy="64244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77E17E5-9A0A-45DD-92A2-0DD285D3E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0025" y="1131639"/>
            <a:ext cx="1980000" cy="6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85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41363" y="2343150"/>
          <a:ext cx="1389287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  <a:gridCol w="2591955">
                  <a:extLst>
                    <a:ext uri="{9D8B030D-6E8A-4147-A177-3AD203B41FA5}">
                      <a16:colId xmlns:a16="http://schemas.microsoft.com/office/drawing/2014/main" val="2161287680"/>
                    </a:ext>
                  </a:extLst>
                </a:gridCol>
                <a:gridCol w="2766097">
                  <a:extLst>
                    <a:ext uri="{9D8B030D-6E8A-4147-A177-3AD203B41FA5}">
                      <a16:colId xmlns:a16="http://schemas.microsoft.com/office/drawing/2014/main" val="1948513445"/>
                    </a:ext>
                  </a:extLst>
                </a:gridCol>
                <a:gridCol w="2625168">
                  <a:extLst>
                    <a:ext uri="{9D8B030D-6E8A-4147-A177-3AD203B41FA5}">
                      <a16:colId xmlns:a16="http://schemas.microsoft.com/office/drawing/2014/main" val="3538555944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SIRIO LIBANES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OSWALDO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9 DE JULHO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INFANTIL SABARA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SAMARITANO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PRO MATRE PAULISTA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DO CORACAO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A. C. CAMARGO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MAT. SANTA JOANA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CATARINA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SANTANA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POMPEIA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IPIRANGA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LIBERDADE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VITORIA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BP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ALVORADA MOEMA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PAULA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LEFORTE MORUMBI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7" name="Conector Reto 1">
            <a:extLst>
              <a:ext uri="{FF2B5EF4-FFF2-40B4-BE49-F238E27FC236}">
                <a16:creationId xmlns:a16="http://schemas.microsoft.com/office/drawing/2014/main" id="{38105BA0-D0F3-C0F6-5F0D-69B0F6ABB459}"/>
              </a:ext>
            </a:extLst>
          </p:cNvPr>
          <p:cNvCxnSpPr>
            <a:cxnSpLocks/>
          </p:cNvCxnSpPr>
          <p:nvPr/>
        </p:nvCxnSpPr>
        <p:spPr>
          <a:xfrm>
            <a:off x="8934392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1">
            <a:extLst>
              <a:ext uri="{FF2B5EF4-FFF2-40B4-BE49-F238E27FC236}">
                <a16:creationId xmlns:a16="http://schemas.microsoft.com/office/drawing/2014/main" id="{59E967B8-232C-8B07-1013-3DD75B895A3C}"/>
              </a:ext>
            </a:extLst>
          </p:cNvPr>
          <p:cNvCxnSpPr>
            <a:cxnSpLocks/>
          </p:cNvCxnSpPr>
          <p:nvPr/>
        </p:nvCxnSpPr>
        <p:spPr>
          <a:xfrm>
            <a:off x="11578186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1">
            <a:extLst>
              <a:ext uri="{FF2B5EF4-FFF2-40B4-BE49-F238E27FC236}">
                <a16:creationId xmlns:a16="http://schemas.microsoft.com/office/drawing/2014/main" id="{DFFF8A02-3FDF-5BBA-02D4-F932E03899C7}"/>
              </a:ext>
            </a:extLst>
          </p:cNvPr>
          <p:cNvCxnSpPr>
            <a:cxnSpLocks/>
          </p:cNvCxnSpPr>
          <p:nvPr/>
        </p:nvCxnSpPr>
        <p:spPr>
          <a:xfrm>
            <a:off x="14434240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331608" y="1910795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S750 A</a:t>
            </a:r>
          </a:p>
        </p:txBody>
      </p:sp>
      <p:sp>
        <p:nvSpPr>
          <p:cNvPr id="12" name="CaixaDeTexto 14">
            <a:extLst>
              <a:ext uri="{FF2B5EF4-FFF2-40B4-BE49-F238E27FC236}">
                <a16:creationId xmlns:a16="http://schemas.microsoft.com/office/drawing/2014/main" id="{7C756613-9A25-0988-4509-86E588CE5D2F}"/>
              </a:ext>
            </a:extLst>
          </p:cNvPr>
          <p:cNvSpPr txBox="1"/>
          <p:nvPr/>
        </p:nvSpPr>
        <p:spPr>
          <a:xfrm>
            <a:off x="6687278" y="1910795"/>
            <a:ext cx="207879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Platinum A</a:t>
            </a:r>
          </a:p>
        </p:txBody>
      </p:sp>
      <p:sp>
        <p:nvSpPr>
          <p:cNvPr id="13" name="CaixaDeTexto 14">
            <a:extLst>
              <a:ext uri="{FF2B5EF4-FFF2-40B4-BE49-F238E27FC236}">
                <a16:creationId xmlns:a16="http://schemas.microsoft.com/office/drawing/2014/main" id="{0DC50669-99F2-6239-D013-81D26BD3B49B}"/>
              </a:ext>
            </a:extLst>
          </p:cNvPr>
          <p:cNvSpPr txBox="1"/>
          <p:nvPr/>
        </p:nvSpPr>
        <p:spPr>
          <a:xfrm>
            <a:off x="9216472" y="1910795"/>
            <a:ext cx="215590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Especial 100 A</a:t>
            </a:r>
          </a:p>
        </p:txBody>
      </p:sp>
      <p:sp>
        <p:nvSpPr>
          <p:cNvPr id="31" name="CaixaDeTexto 14">
            <a:extLst>
              <a:ext uri="{FF2B5EF4-FFF2-40B4-BE49-F238E27FC236}">
                <a16:creationId xmlns:a16="http://schemas.microsoft.com/office/drawing/2014/main" id="{2981731E-F4F8-4F2F-72C4-1A8BA20E28A6}"/>
              </a:ext>
            </a:extLst>
          </p:cNvPr>
          <p:cNvSpPr txBox="1"/>
          <p:nvPr/>
        </p:nvSpPr>
        <p:spPr>
          <a:xfrm>
            <a:off x="12088582" y="1910795"/>
            <a:ext cx="20477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Nacional A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São Paulo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20 | Executivo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27EEEA5-A8E3-4E91-B794-C2BA8ED04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775" y="1261339"/>
            <a:ext cx="1800000" cy="45176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9ED5CA1-D422-42C4-8051-F1915D949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86" y="1136172"/>
            <a:ext cx="1620000" cy="57693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9D9A5E3-2A9C-47F1-A3C3-3DCCC3A51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433" y="1070661"/>
            <a:ext cx="1980000" cy="64244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24B012C-1E48-4FA1-902D-7C15B47BB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674" y="1136172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54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888072"/>
              </p:ext>
            </p:extLst>
          </p:nvPr>
        </p:nvGraphicFramePr>
        <p:xfrm>
          <a:off x="541363" y="2343150"/>
          <a:ext cx="13892875" cy="7337400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  <a:gridCol w="2591955">
                  <a:extLst>
                    <a:ext uri="{9D8B030D-6E8A-4147-A177-3AD203B41FA5}">
                      <a16:colId xmlns:a16="http://schemas.microsoft.com/office/drawing/2014/main" val="2161287680"/>
                    </a:ext>
                  </a:extLst>
                </a:gridCol>
                <a:gridCol w="2766097">
                  <a:extLst>
                    <a:ext uri="{9D8B030D-6E8A-4147-A177-3AD203B41FA5}">
                      <a16:colId xmlns:a16="http://schemas.microsoft.com/office/drawing/2014/main" val="1948513445"/>
                    </a:ext>
                  </a:extLst>
                </a:gridCol>
                <a:gridCol w="2625168">
                  <a:extLst>
                    <a:ext uri="{9D8B030D-6E8A-4147-A177-3AD203B41FA5}">
                      <a16:colId xmlns:a16="http://schemas.microsoft.com/office/drawing/2014/main" val="3538555944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BENEF PORTUGUESA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BARTIRA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DR CHRISTOVAO DA GAMA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 BRASIL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03977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NOTRECARE ABC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00555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36258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NEOMATER - SANTA MARCELINA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56609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SAO BERNARDO - HAPVIDA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33400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DE OLHOS PAULISTA - CERPO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6411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ASSUNCAO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IFOR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23031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MATERNIDADE CENTRAL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2121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BENEF PORTUGUESA - SCS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6268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SAO LUIZ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69006"/>
                  </a:ext>
                </a:extLst>
              </a:tr>
            </a:tbl>
          </a:graphicData>
        </a:graphic>
      </p:graphicFrame>
      <p:cxnSp>
        <p:nvCxnSpPr>
          <p:cNvPr id="7" name="Conector Reto 1">
            <a:extLst>
              <a:ext uri="{FF2B5EF4-FFF2-40B4-BE49-F238E27FC236}">
                <a16:creationId xmlns:a16="http://schemas.microsoft.com/office/drawing/2014/main" id="{38105BA0-D0F3-C0F6-5F0D-69B0F6ABB459}"/>
              </a:ext>
            </a:extLst>
          </p:cNvPr>
          <p:cNvCxnSpPr>
            <a:cxnSpLocks/>
          </p:cNvCxnSpPr>
          <p:nvPr/>
        </p:nvCxnSpPr>
        <p:spPr>
          <a:xfrm>
            <a:off x="8934392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1">
            <a:extLst>
              <a:ext uri="{FF2B5EF4-FFF2-40B4-BE49-F238E27FC236}">
                <a16:creationId xmlns:a16="http://schemas.microsoft.com/office/drawing/2014/main" id="{59E967B8-232C-8B07-1013-3DD75B895A3C}"/>
              </a:ext>
            </a:extLst>
          </p:cNvPr>
          <p:cNvCxnSpPr>
            <a:cxnSpLocks/>
          </p:cNvCxnSpPr>
          <p:nvPr/>
        </p:nvCxnSpPr>
        <p:spPr>
          <a:xfrm>
            <a:off x="11578186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1">
            <a:extLst>
              <a:ext uri="{FF2B5EF4-FFF2-40B4-BE49-F238E27FC236}">
                <a16:creationId xmlns:a16="http://schemas.microsoft.com/office/drawing/2014/main" id="{DFFF8A02-3FDF-5BBA-02D4-F932E03899C7}"/>
              </a:ext>
            </a:extLst>
          </p:cNvPr>
          <p:cNvCxnSpPr>
            <a:cxnSpLocks/>
          </p:cNvCxnSpPr>
          <p:nvPr/>
        </p:nvCxnSpPr>
        <p:spPr>
          <a:xfrm>
            <a:off x="14434240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331608" y="1910795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S750 A</a:t>
            </a:r>
          </a:p>
        </p:txBody>
      </p:sp>
      <p:sp>
        <p:nvSpPr>
          <p:cNvPr id="12" name="CaixaDeTexto 14">
            <a:extLst>
              <a:ext uri="{FF2B5EF4-FFF2-40B4-BE49-F238E27FC236}">
                <a16:creationId xmlns:a16="http://schemas.microsoft.com/office/drawing/2014/main" id="{7C756613-9A25-0988-4509-86E588CE5D2F}"/>
              </a:ext>
            </a:extLst>
          </p:cNvPr>
          <p:cNvSpPr txBox="1"/>
          <p:nvPr/>
        </p:nvSpPr>
        <p:spPr>
          <a:xfrm>
            <a:off x="6687278" y="1910795"/>
            <a:ext cx="207879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Platinum A</a:t>
            </a:r>
          </a:p>
        </p:txBody>
      </p:sp>
      <p:sp>
        <p:nvSpPr>
          <p:cNvPr id="13" name="CaixaDeTexto 14">
            <a:extLst>
              <a:ext uri="{FF2B5EF4-FFF2-40B4-BE49-F238E27FC236}">
                <a16:creationId xmlns:a16="http://schemas.microsoft.com/office/drawing/2014/main" id="{0DC50669-99F2-6239-D013-81D26BD3B49B}"/>
              </a:ext>
            </a:extLst>
          </p:cNvPr>
          <p:cNvSpPr txBox="1"/>
          <p:nvPr/>
        </p:nvSpPr>
        <p:spPr>
          <a:xfrm>
            <a:off x="9216472" y="1910795"/>
            <a:ext cx="215590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Especial 100 A</a:t>
            </a:r>
          </a:p>
        </p:txBody>
      </p:sp>
      <p:sp>
        <p:nvSpPr>
          <p:cNvPr id="31" name="CaixaDeTexto 14">
            <a:extLst>
              <a:ext uri="{FF2B5EF4-FFF2-40B4-BE49-F238E27FC236}">
                <a16:creationId xmlns:a16="http://schemas.microsoft.com/office/drawing/2014/main" id="{2981731E-F4F8-4F2F-72C4-1A8BA20E28A6}"/>
              </a:ext>
            </a:extLst>
          </p:cNvPr>
          <p:cNvSpPr txBox="1"/>
          <p:nvPr/>
        </p:nvSpPr>
        <p:spPr>
          <a:xfrm>
            <a:off x="12088582" y="1910795"/>
            <a:ext cx="20477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Nacional A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Demais localidades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27EEEA5-A8E3-4E91-B794-C2BA8ED04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775" y="1261339"/>
            <a:ext cx="1800000" cy="45176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9ED5CA1-D422-42C4-8051-F1915D949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86" y="1136172"/>
            <a:ext cx="1620000" cy="57693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9D9A5E3-2A9C-47F1-A3C3-3DCCC3A51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433" y="1070661"/>
            <a:ext cx="1980000" cy="64244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24B012C-1E48-4FA1-902D-7C15B47BB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674" y="1136172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94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41363" y="2343150"/>
          <a:ext cx="1389287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  <a:gridCol w="2591955">
                  <a:extLst>
                    <a:ext uri="{9D8B030D-6E8A-4147-A177-3AD203B41FA5}">
                      <a16:colId xmlns:a16="http://schemas.microsoft.com/office/drawing/2014/main" val="2161287680"/>
                    </a:ext>
                  </a:extLst>
                </a:gridCol>
                <a:gridCol w="2766097">
                  <a:extLst>
                    <a:ext uri="{9D8B030D-6E8A-4147-A177-3AD203B41FA5}">
                      <a16:colId xmlns:a16="http://schemas.microsoft.com/office/drawing/2014/main" val="1948513445"/>
                    </a:ext>
                  </a:extLst>
                </a:gridCol>
                <a:gridCol w="2625168">
                  <a:extLst>
                    <a:ext uri="{9D8B030D-6E8A-4147-A177-3AD203B41FA5}">
                      <a16:colId xmlns:a16="http://schemas.microsoft.com/office/drawing/2014/main" val="3538555944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ALBERT EINSTEIN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SIRIO LIBANES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VILA NOVA STAR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MATERNIDADE STAR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OSWALDO CRUZ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9 DE JULHO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INFANTIL SABARA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SAMARITANO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PRO MATRE PAULISTA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DO CORACAO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LUIZ  ITAIM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LUIZ  MORUMBI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LUIZ  ANALIA FRANCO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LUIZ JABAQUARA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A. C. CAMARGO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MAT. SANTA JOANA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SANTA CATARINA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SANTANA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POMPEIA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HOSP SAO CAMILO IPIRANGA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7" name="Conector Reto 1">
            <a:extLst>
              <a:ext uri="{FF2B5EF4-FFF2-40B4-BE49-F238E27FC236}">
                <a16:creationId xmlns:a16="http://schemas.microsoft.com/office/drawing/2014/main" id="{38105BA0-D0F3-C0F6-5F0D-69B0F6ABB459}"/>
              </a:ext>
            </a:extLst>
          </p:cNvPr>
          <p:cNvCxnSpPr>
            <a:cxnSpLocks/>
          </p:cNvCxnSpPr>
          <p:nvPr/>
        </p:nvCxnSpPr>
        <p:spPr>
          <a:xfrm>
            <a:off x="8934392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1">
            <a:extLst>
              <a:ext uri="{FF2B5EF4-FFF2-40B4-BE49-F238E27FC236}">
                <a16:creationId xmlns:a16="http://schemas.microsoft.com/office/drawing/2014/main" id="{59E967B8-232C-8B07-1013-3DD75B895A3C}"/>
              </a:ext>
            </a:extLst>
          </p:cNvPr>
          <p:cNvCxnSpPr>
            <a:cxnSpLocks/>
          </p:cNvCxnSpPr>
          <p:nvPr/>
        </p:nvCxnSpPr>
        <p:spPr>
          <a:xfrm>
            <a:off x="11578186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1">
            <a:extLst>
              <a:ext uri="{FF2B5EF4-FFF2-40B4-BE49-F238E27FC236}">
                <a16:creationId xmlns:a16="http://schemas.microsoft.com/office/drawing/2014/main" id="{DFFF8A02-3FDF-5BBA-02D4-F932E03899C7}"/>
              </a:ext>
            </a:extLst>
          </p:cNvPr>
          <p:cNvCxnSpPr>
            <a:cxnSpLocks/>
          </p:cNvCxnSpPr>
          <p:nvPr/>
        </p:nvCxnSpPr>
        <p:spPr>
          <a:xfrm>
            <a:off x="14434240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331608" y="1910795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S2500 A</a:t>
            </a:r>
          </a:p>
        </p:txBody>
      </p:sp>
      <p:sp>
        <p:nvSpPr>
          <p:cNvPr id="12" name="CaixaDeTexto 14">
            <a:extLst>
              <a:ext uri="{FF2B5EF4-FFF2-40B4-BE49-F238E27FC236}">
                <a16:creationId xmlns:a16="http://schemas.microsoft.com/office/drawing/2014/main" id="{7C756613-9A25-0988-4509-86E588CE5D2F}"/>
              </a:ext>
            </a:extLst>
          </p:cNvPr>
          <p:cNvSpPr txBox="1"/>
          <p:nvPr/>
        </p:nvSpPr>
        <p:spPr>
          <a:xfrm>
            <a:off x="6687278" y="1910795"/>
            <a:ext cx="207879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S6500 A</a:t>
            </a:r>
          </a:p>
        </p:txBody>
      </p:sp>
      <p:sp>
        <p:nvSpPr>
          <p:cNvPr id="13" name="CaixaDeTexto 14">
            <a:extLst>
              <a:ext uri="{FF2B5EF4-FFF2-40B4-BE49-F238E27FC236}">
                <a16:creationId xmlns:a16="http://schemas.microsoft.com/office/drawing/2014/main" id="{0DC50669-99F2-6239-D013-81D26BD3B49B}"/>
              </a:ext>
            </a:extLst>
          </p:cNvPr>
          <p:cNvSpPr txBox="1"/>
          <p:nvPr/>
        </p:nvSpPr>
        <p:spPr>
          <a:xfrm>
            <a:off x="9216472" y="1910795"/>
            <a:ext cx="215590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Prestige A</a:t>
            </a:r>
          </a:p>
        </p:txBody>
      </p:sp>
      <p:sp>
        <p:nvSpPr>
          <p:cNvPr id="31" name="CaixaDeTexto 14">
            <a:extLst>
              <a:ext uri="{FF2B5EF4-FFF2-40B4-BE49-F238E27FC236}">
                <a16:creationId xmlns:a16="http://schemas.microsoft.com/office/drawing/2014/main" id="{2981731E-F4F8-4F2F-72C4-1A8BA20E28A6}"/>
              </a:ext>
            </a:extLst>
          </p:cNvPr>
          <p:cNvSpPr txBox="1"/>
          <p:nvPr/>
        </p:nvSpPr>
        <p:spPr>
          <a:xfrm>
            <a:off x="12088582" y="1910795"/>
            <a:ext cx="20477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Premium A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São Paulo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20 | Executivo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27EEEA5-A8E3-4E91-B794-C2BA8ED04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775" y="1261339"/>
            <a:ext cx="1800000" cy="45176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9ED5CA1-D422-42C4-8051-F1915D949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86" y="1136172"/>
            <a:ext cx="1620000" cy="57693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9D9A5E3-2A9C-47F1-A3C3-3DCCC3A51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433" y="1070661"/>
            <a:ext cx="1980000" cy="64244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24B012C-1E48-4FA1-902D-7C15B47BB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674" y="1136172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97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3F08AD95-5BFC-7942-103C-49FD8EF8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graphicFrame>
        <p:nvGraphicFramePr>
          <p:cNvPr id="6" name="Tabela 11">
            <a:extLst>
              <a:ext uri="{FF2B5EF4-FFF2-40B4-BE49-F238E27FC236}">
                <a16:creationId xmlns:a16="http://schemas.microsoft.com/office/drawing/2014/main" id="{CE624D24-8BC1-A382-8DBA-082416E2E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07247"/>
              </p:ext>
            </p:extLst>
          </p:nvPr>
        </p:nvGraphicFramePr>
        <p:xfrm>
          <a:off x="541363" y="2343150"/>
          <a:ext cx="13892875" cy="7349459"/>
        </p:xfrm>
        <a:graphic>
          <a:graphicData uri="http://schemas.openxmlformats.org/drawingml/2006/table">
            <a:tbl>
              <a:tblPr/>
              <a:tblGrid>
                <a:gridCol w="3338579">
                  <a:extLst>
                    <a:ext uri="{9D8B030D-6E8A-4147-A177-3AD203B41FA5}">
                      <a16:colId xmlns:a16="http://schemas.microsoft.com/office/drawing/2014/main" val="3514217047"/>
                    </a:ext>
                  </a:extLst>
                </a:gridCol>
                <a:gridCol w="2571076">
                  <a:extLst>
                    <a:ext uri="{9D8B030D-6E8A-4147-A177-3AD203B41FA5}">
                      <a16:colId xmlns:a16="http://schemas.microsoft.com/office/drawing/2014/main" val="2668800830"/>
                    </a:ext>
                  </a:extLst>
                </a:gridCol>
                <a:gridCol w="2591955">
                  <a:extLst>
                    <a:ext uri="{9D8B030D-6E8A-4147-A177-3AD203B41FA5}">
                      <a16:colId xmlns:a16="http://schemas.microsoft.com/office/drawing/2014/main" val="2161287680"/>
                    </a:ext>
                  </a:extLst>
                </a:gridCol>
                <a:gridCol w="2766097">
                  <a:extLst>
                    <a:ext uri="{9D8B030D-6E8A-4147-A177-3AD203B41FA5}">
                      <a16:colId xmlns:a16="http://schemas.microsoft.com/office/drawing/2014/main" val="1948513445"/>
                    </a:ext>
                  </a:extLst>
                </a:gridCol>
                <a:gridCol w="2625168">
                  <a:extLst>
                    <a:ext uri="{9D8B030D-6E8A-4147-A177-3AD203B41FA5}">
                      <a16:colId xmlns:a16="http://schemas.microsoft.com/office/drawing/2014/main" val="3538555944"/>
                    </a:ext>
                  </a:extLst>
                </a:gridCol>
              </a:tblGrid>
              <a:tr h="366870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"/>
                        </a:rPr>
                        <a:t>** SANTO ANDRÉ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308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BENEF PORTUGUESA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8934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BARTIRA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68258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 DR CHRISTOVAO DA GAMA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210695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4508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 BRASIL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51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8961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BERNARDO DO CAMPO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2305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NOTRECARE ABC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35985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E MATER SANTA HELENA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44584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NEOMATER - SANTA MARCELINA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437376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SAO BERNARDO - HAPVIDA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6725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DE OLHOS PAULISTA - CERPO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76148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ASSUNCAO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771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IFOR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03341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endParaRPr kumimoji="0" lang="pt-B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Aptos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05887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marR="0" lvl="0" indent="0" algn="l" defTabSz="131655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** SÃO CAETANO DO SUL **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Webdings" panose="05030102010509060703" pitchFamily="18" charset="2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780659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E MATERNIDADE CENTRAL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45822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marL="0" algn="l" defTabSz="1316553" rtl="0" eaLnBrk="1" fontAlgn="ctr" latinLnBrk="0" hangingPunct="1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 BENEF PORTUGUESA - SCS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62263"/>
                  </a:ext>
                </a:extLst>
              </a:tr>
              <a:tr h="36687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pt-B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ptos"/>
                          <a:ea typeface="+mn-ea"/>
                          <a:cs typeface="+mn-cs"/>
                        </a:rPr>
                        <a:t>HOSPITAL SAO LUIZ - REDE DOR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ctr" defTabSz="1316553" rtl="0" eaLnBrk="1" fontAlgn="auto" latinLnBrk="0" hangingPunct="1">
                        <a:lnSpc>
                          <a:spcPts val="225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726389"/>
                  </a:ext>
                </a:extLst>
              </a:tr>
            </a:tbl>
          </a:graphicData>
        </a:graphic>
      </p:graphicFrame>
      <p:cxnSp>
        <p:nvCxnSpPr>
          <p:cNvPr id="7" name="Conector Reto 1">
            <a:extLst>
              <a:ext uri="{FF2B5EF4-FFF2-40B4-BE49-F238E27FC236}">
                <a16:creationId xmlns:a16="http://schemas.microsoft.com/office/drawing/2014/main" id="{38105BA0-D0F3-C0F6-5F0D-69B0F6ABB459}"/>
              </a:ext>
            </a:extLst>
          </p:cNvPr>
          <p:cNvCxnSpPr>
            <a:cxnSpLocks/>
          </p:cNvCxnSpPr>
          <p:nvPr/>
        </p:nvCxnSpPr>
        <p:spPr>
          <a:xfrm>
            <a:off x="8934392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1">
            <a:extLst>
              <a:ext uri="{FF2B5EF4-FFF2-40B4-BE49-F238E27FC236}">
                <a16:creationId xmlns:a16="http://schemas.microsoft.com/office/drawing/2014/main" id="{59E967B8-232C-8B07-1013-3DD75B895A3C}"/>
              </a:ext>
            </a:extLst>
          </p:cNvPr>
          <p:cNvCxnSpPr>
            <a:cxnSpLocks/>
          </p:cNvCxnSpPr>
          <p:nvPr/>
        </p:nvCxnSpPr>
        <p:spPr>
          <a:xfrm>
            <a:off x="11578186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">
            <a:extLst>
              <a:ext uri="{FF2B5EF4-FFF2-40B4-BE49-F238E27FC236}">
                <a16:creationId xmlns:a16="http://schemas.microsoft.com/office/drawing/2014/main" id="{90D88C1D-45B8-6F4E-0CFF-D2EB8446109C}"/>
              </a:ext>
            </a:extLst>
          </p:cNvPr>
          <p:cNvCxnSpPr>
            <a:cxnSpLocks/>
          </p:cNvCxnSpPr>
          <p:nvPr/>
        </p:nvCxnSpPr>
        <p:spPr>
          <a:xfrm>
            <a:off x="6290599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1">
            <a:extLst>
              <a:ext uri="{FF2B5EF4-FFF2-40B4-BE49-F238E27FC236}">
                <a16:creationId xmlns:a16="http://schemas.microsoft.com/office/drawing/2014/main" id="{DFFF8A02-3FDF-5BBA-02D4-F932E03899C7}"/>
              </a:ext>
            </a:extLst>
          </p:cNvPr>
          <p:cNvCxnSpPr>
            <a:cxnSpLocks/>
          </p:cNvCxnSpPr>
          <p:nvPr/>
        </p:nvCxnSpPr>
        <p:spPr>
          <a:xfrm>
            <a:off x="14434240" y="2343150"/>
            <a:ext cx="0" cy="7548530"/>
          </a:xfrm>
          <a:prstGeom prst="line">
            <a:avLst/>
          </a:prstGeom>
          <a:ln w="38100">
            <a:solidFill>
              <a:schemeClr val="accent4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4">
            <a:extLst>
              <a:ext uri="{FF2B5EF4-FFF2-40B4-BE49-F238E27FC236}">
                <a16:creationId xmlns:a16="http://schemas.microsoft.com/office/drawing/2014/main" id="{D28BB496-9B3D-44B8-4E34-E40478C6A9B7}"/>
              </a:ext>
            </a:extLst>
          </p:cNvPr>
          <p:cNvSpPr txBox="1"/>
          <p:nvPr/>
        </p:nvSpPr>
        <p:spPr>
          <a:xfrm>
            <a:off x="4331608" y="1910795"/>
            <a:ext cx="16949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S2500 A</a:t>
            </a:r>
          </a:p>
        </p:txBody>
      </p:sp>
      <p:sp>
        <p:nvSpPr>
          <p:cNvPr id="12" name="CaixaDeTexto 14">
            <a:extLst>
              <a:ext uri="{FF2B5EF4-FFF2-40B4-BE49-F238E27FC236}">
                <a16:creationId xmlns:a16="http://schemas.microsoft.com/office/drawing/2014/main" id="{7C756613-9A25-0988-4509-86E588CE5D2F}"/>
              </a:ext>
            </a:extLst>
          </p:cNvPr>
          <p:cNvSpPr txBox="1"/>
          <p:nvPr/>
        </p:nvSpPr>
        <p:spPr>
          <a:xfrm>
            <a:off x="6687278" y="1910795"/>
            <a:ext cx="207879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S6500 A</a:t>
            </a:r>
          </a:p>
        </p:txBody>
      </p:sp>
      <p:sp>
        <p:nvSpPr>
          <p:cNvPr id="13" name="CaixaDeTexto 14">
            <a:extLst>
              <a:ext uri="{FF2B5EF4-FFF2-40B4-BE49-F238E27FC236}">
                <a16:creationId xmlns:a16="http://schemas.microsoft.com/office/drawing/2014/main" id="{0DC50669-99F2-6239-D013-81D26BD3B49B}"/>
              </a:ext>
            </a:extLst>
          </p:cNvPr>
          <p:cNvSpPr txBox="1"/>
          <p:nvPr/>
        </p:nvSpPr>
        <p:spPr>
          <a:xfrm>
            <a:off x="9216472" y="1910795"/>
            <a:ext cx="215590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Prestige A</a:t>
            </a:r>
          </a:p>
        </p:txBody>
      </p:sp>
      <p:sp>
        <p:nvSpPr>
          <p:cNvPr id="31" name="CaixaDeTexto 14">
            <a:extLst>
              <a:ext uri="{FF2B5EF4-FFF2-40B4-BE49-F238E27FC236}">
                <a16:creationId xmlns:a16="http://schemas.microsoft.com/office/drawing/2014/main" id="{2981731E-F4F8-4F2F-72C4-1A8BA20E28A6}"/>
              </a:ext>
            </a:extLst>
          </p:cNvPr>
          <p:cNvSpPr txBox="1"/>
          <p:nvPr/>
        </p:nvSpPr>
        <p:spPr>
          <a:xfrm>
            <a:off x="12088582" y="1910795"/>
            <a:ext cx="20477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Premium A</a:t>
            </a:r>
          </a:p>
        </p:txBody>
      </p:sp>
      <p:sp>
        <p:nvSpPr>
          <p:cNvPr id="4" name="CaixaDeTexto 14">
            <a:extLst>
              <a:ext uri="{FF2B5EF4-FFF2-40B4-BE49-F238E27FC236}">
                <a16:creationId xmlns:a16="http://schemas.microsoft.com/office/drawing/2014/main" id="{CF2A8708-3214-E1FE-B10E-D6FA18F36B17}"/>
              </a:ext>
            </a:extLst>
          </p:cNvPr>
          <p:cNvSpPr txBox="1"/>
          <p:nvPr/>
        </p:nvSpPr>
        <p:spPr>
          <a:xfrm>
            <a:off x="8075040" y="394174"/>
            <a:ext cx="8954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Demais localidades – rede de hospitais – Melhor índice de avaliação pelos usuários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293114-DB99-27B6-4542-4B9881410306}"/>
              </a:ext>
            </a:extLst>
          </p:cNvPr>
          <p:cNvSpPr txBox="1"/>
          <p:nvPr/>
        </p:nvSpPr>
        <p:spPr>
          <a:xfrm>
            <a:off x="471023" y="627203"/>
            <a:ext cx="4705194" cy="36076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2800" spc="600" dirty="0">
                <a:solidFill>
                  <a:schemeClr val="accent4"/>
                </a:solidFill>
                <a:latin typeface="Gobold Extra2" panose="02000500000000000000" pitchFamily="2" charset="0"/>
                <a:ea typeface="Atyp Display" pitchFamily="2" charset="0"/>
              </a:rPr>
              <a:t>REDE CREDENCIADA</a:t>
            </a:r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AB75AB3C-685F-4BD5-9CBC-12E8F1FAB6BC}"/>
              </a:ext>
            </a:extLst>
          </p:cNvPr>
          <p:cNvSpPr txBox="1"/>
          <p:nvPr/>
        </p:nvSpPr>
        <p:spPr>
          <a:xfrm>
            <a:off x="412002" y="1571476"/>
            <a:ext cx="332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 Medium" pitchFamily="2" charset="77"/>
                <a:ea typeface="Atyp Display Semibold" pitchFamily="2" charset="0"/>
                <a:cs typeface="Poppins Medium" pitchFamily="2" charset="77"/>
              </a:rPr>
              <a:t>TOP | Básico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27EEEA5-A8E3-4E91-B794-C2BA8ED04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775" y="1261339"/>
            <a:ext cx="1800000" cy="45176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9ED5CA1-D422-42C4-8051-F1915D949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86" y="1136172"/>
            <a:ext cx="1620000" cy="57693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49D9A5E3-2A9C-47F1-A3C3-3DCCC3A514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433" y="1070661"/>
            <a:ext cx="1980000" cy="64244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24B012C-1E48-4FA1-902D-7C15B47BB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674" y="1136172"/>
            <a:ext cx="1620000" cy="5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22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Cd em fundo branco&#10;&#10;Descrição gerada automaticamente com confiança baixa">
            <a:extLst>
              <a:ext uri="{FF2B5EF4-FFF2-40B4-BE49-F238E27FC236}">
                <a16:creationId xmlns:a16="http://schemas.microsoft.com/office/drawing/2014/main" id="{4B5BDED6-B6A2-A8D7-FA5C-9BA5F4D041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03EE0742-BAEB-0916-4C72-779D6BC8FFF4}"/>
              </a:ext>
            </a:extLst>
          </p:cNvPr>
          <p:cNvSpPr/>
          <p:nvPr/>
        </p:nvSpPr>
        <p:spPr>
          <a:xfrm>
            <a:off x="741735" y="3098900"/>
            <a:ext cx="16074281" cy="6483717"/>
          </a:xfrm>
          <a:prstGeom prst="roundRect">
            <a:avLst>
              <a:gd name="adj" fmla="val 32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592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D5BFFA28-BB4E-F8A6-CAF4-DB807D2E7317}"/>
              </a:ext>
            </a:extLst>
          </p:cNvPr>
          <p:cNvSpPr txBox="1">
            <a:spLocks/>
          </p:cNvSpPr>
          <p:nvPr/>
        </p:nvSpPr>
        <p:spPr>
          <a:xfrm>
            <a:off x="1072698" y="7864498"/>
            <a:ext cx="15412355" cy="15925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304">
                <a:solidFill>
                  <a:schemeClr val="accent2"/>
                </a:solidFill>
                <a:latin typeface="Gobold Extra2" panose="02000500000000000000" pitchFamily="2" charset="0"/>
                <a:ea typeface="Atyp Display" pitchFamily="2" charset="0"/>
              </a:rPr>
              <a:t>COMITÊS DE SAÚDE</a:t>
            </a:r>
          </a:p>
          <a:p>
            <a:pPr algn="l"/>
            <a:r>
              <a:rPr lang="pt-BR" sz="1600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Serão realizados encontros envolvendo as equipes de gestão e promoção da saúde da </a:t>
            </a:r>
            <a:r>
              <a:rPr lang="pt-BR" sz="1600" err="1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Aggrega</a:t>
            </a:r>
            <a:r>
              <a:rPr lang="pt-BR" sz="1600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, os profissionais da empresa, e quando necessário, os profissionais dos fornecedores contratados.</a:t>
            </a:r>
          </a:p>
          <a:p>
            <a:pPr algn="l"/>
            <a:r>
              <a:rPr lang="pt-BR" sz="1600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O objetivo destes encontros é apresentar um plano de ação para os riscos identificados, além de acompanhar periodicamente as ações aplicadas , com o intuito de obter uma análise concreta dos programas em curso, discussões sobre adaptação, inclusões de novas ações, avaliações dos resultados obtidos, etc.</a:t>
            </a:r>
          </a:p>
        </p:txBody>
      </p:sp>
      <p:sp>
        <p:nvSpPr>
          <p:cNvPr id="92" name="Subtítulo 2">
            <a:extLst>
              <a:ext uri="{FF2B5EF4-FFF2-40B4-BE49-F238E27FC236}">
                <a16:creationId xmlns:a16="http://schemas.microsoft.com/office/drawing/2014/main" id="{33D258D6-E65B-41EE-B68F-C78BCB6D8F80}"/>
              </a:ext>
            </a:extLst>
          </p:cNvPr>
          <p:cNvSpPr txBox="1">
            <a:spLocks/>
          </p:cNvSpPr>
          <p:nvPr/>
        </p:nvSpPr>
        <p:spPr>
          <a:xfrm>
            <a:off x="957264" y="2288472"/>
            <a:ext cx="13762011" cy="6358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316553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A partir de análises específicas e cruzamentos de dados, são identificados e mapeados os grupos de riscos existentes.</a:t>
            </a:r>
          </a:p>
          <a:p>
            <a:pPr algn="l" defTabSz="1316553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Os grupos são mapeados e classificados por nível de complexidade desde saudáveis até casos de alta complexidade.</a:t>
            </a:r>
          </a:p>
        </p:txBody>
      </p:sp>
      <p:sp>
        <p:nvSpPr>
          <p:cNvPr id="93" name="Subtítulo 2">
            <a:extLst>
              <a:ext uri="{FF2B5EF4-FFF2-40B4-BE49-F238E27FC236}">
                <a16:creationId xmlns:a16="http://schemas.microsoft.com/office/drawing/2014/main" id="{73EBA9DD-3346-40CD-A7B2-BA7B6025AC40}"/>
              </a:ext>
            </a:extLst>
          </p:cNvPr>
          <p:cNvSpPr txBox="1">
            <a:spLocks/>
          </p:cNvSpPr>
          <p:nvPr/>
        </p:nvSpPr>
        <p:spPr>
          <a:xfrm>
            <a:off x="2037347" y="5286528"/>
            <a:ext cx="1504057" cy="7095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pt-BR" sz="2000" b="1">
                <a:solidFill>
                  <a:schemeClr val="accent2"/>
                </a:solidFill>
                <a:latin typeface="Atyp Display Semibold" pitchFamily="2" charset="0"/>
                <a:ea typeface="Atyp Display Semibold" pitchFamily="2" charset="0"/>
              </a:rPr>
              <a:t>OBJETIVO DA AÇÃO</a:t>
            </a:r>
          </a:p>
        </p:txBody>
      </p:sp>
      <p:sp>
        <p:nvSpPr>
          <p:cNvPr id="94" name="Subtítulo 2">
            <a:extLst>
              <a:ext uri="{FF2B5EF4-FFF2-40B4-BE49-F238E27FC236}">
                <a16:creationId xmlns:a16="http://schemas.microsoft.com/office/drawing/2014/main" id="{0D2AD848-D2A1-4D8A-A210-985FBF87C981}"/>
              </a:ext>
            </a:extLst>
          </p:cNvPr>
          <p:cNvSpPr txBox="1">
            <a:spLocks/>
          </p:cNvSpPr>
          <p:nvPr/>
        </p:nvSpPr>
        <p:spPr>
          <a:xfrm>
            <a:off x="4387750" y="4517192"/>
            <a:ext cx="1708935" cy="5863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Preventiva</a:t>
            </a:r>
          </a:p>
        </p:txBody>
      </p:sp>
      <p:sp>
        <p:nvSpPr>
          <p:cNvPr id="95" name="Subtítulo 2">
            <a:extLst>
              <a:ext uri="{FF2B5EF4-FFF2-40B4-BE49-F238E27FC236}">
                <a16:creationId xmlns:a16="http://schemas.microsoft.com/office/drawing/2014/main" id="{FD41E57F-B305-429E-BCF1-02216D2FF8D1}"/>
              </a:ext>
            </a:extLst>
          </p:cNvPr>
          <p:cNvSpPr txBox="1">
            <a:spLocks/>
          </p:cNvSpPr>
          <p:nvPr/>
        </p:nvSpPr>
        <p:spPr>
          <a:xfrm>
            <a:off x="7115083" y="4521912"/>
            <a:ext cx="2251385" cy="5419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Aumento do risco</a:t>
            </a:r>
          </a:p>
        </p:txBody>
      </p:sp>
      <p:cxnSp>
        <p:nvCxnSpPr>
          <p:cNvPr id="96" name="Conector Reto 9">
            <a:extLst>
              <a:ext uri="{FF2B5EF4-FFF2-40B4-BE49-F238E27FC236}">
                <a16:creationId xmlns:a16="http://schemas.microsoft.com/office/drawing/2014/main" id="{4431C142-BFE5-41E8-A23A-AC6C3D6D346C}"/>
              </a:ext>
            </a:extLst>
          </p:cNvPr>
          <p:cNvCxnSpPr/>
          <p:nvPr/>
        </p:nvCxnSpPr>
        <p:spPr>
          <a:xfrm>
            <a:off x="1046882" y="4274982"/>
            <a:ext cx="15280943" cy="0"/>
          </a:xfrm>
          <a:prstGeom prst="line">
            <a:avLst/>
          </a:prstGeom>
          <a:noFill/>
          <a:ln w="25400" cap="flat" cmpd="sng" algn="ctr">
            <a:solidFill>
              <a:schemeClr val="bg2">
                <a:lumMod val="50000"/>
              </a:schemeClr>
            </a:solidFill>
            <a:prstDash val="solid"/>
            <a:miter lim="800000"/>
          </a:ln>
          <a:effectLst/>
        </p:spPr>
      </p:cxnSp>
      <p:cxnSp>
        <p:nvCxnSpPr>
          <p:cNvPr id="97" name="Conector Reto 10">
            <a:extLst>
              <a:ext uri="{FF2B5EF4-FFF2-40B4-BE49-F238E27FC236}">
                <a16:creationId xmlns:a16="http://schemas.microsoft.com/office/drawing/2014/main" id="{0A928098-BE8F-4A24-9E5A-836085B931F5}"/>
              </a:ext>
            </a:extLst>
          </p:cNvPr>
          <p:cNvCxnSpPr/>
          <p:nvPr/>
        </p:nvCxnSpPr>
        <p:spPr>
          <a:xfrm>
            <a:off x="1046882" y="5071479"/>
            <a:ext cx="15280943" cy="0"/>
          </a:xfrm>
          <a:prstGeom prst="line">
            <a:avLst/>
          </a:prstGeom>
          <a:noFill/>
          <a:ln w="25400" cap="flat" cmpd="sng" algn="ctr">
            <a:solidFill>
              <a:schemeClr val="bg2">
                <a:lumMod val="50000"/>
              </a:schemeClr>
            </a:solidFill>
            <a:prstDash val="sysDot"/>
            <a:miter lim="800000"/>
          </a:ln>
          <a:effectLst/>
        </p:spPr>
      </p:cxnSp>
      <p:cxnSp>
        <p:nvCxnSpPr>
          <p:cNvPr id="98" name="Conector Reto 11">
            <a:extLst>
              <a:ext uri="{FF2B5EF4-FFF2-40B4-BE49-F238E27FC236}">
                <a16:creationId xmlns:a16="http://schemas.microsoft.com/office/drawing/2014/main" id="{6638DBC9-0BB5-4E9F-B60A-100C841D5E12}"/>
              </a:ext>
            </a:extLst>
          </p:cNvPr>
          <p:cNvCxnSpPr/>
          <p:nvPr/>
        </p:nvCxnSpPr>
        <p:spPr>
          <a:xfrm>
            <a:off x="1046882" y="6139068"/>
            <a:ext cx="15280943" cy="0"/>
          </a:xfrm>
          <a:prstGeom prst="line">
            <a:avLst/>
          </a:prstGeom>
          <a:noFill/>
          <a:ln w="25400" cap="flat" cmpd="sng" algn="ctr">
            <a:solidFill>
              <a:schemeClr val="bg2">
                <a:lumMod val="50000"/>
              </a:schemeClr>
            </a:solidFill>
            <a:prstDash val="sysDot"/>
            <a:miter lim="800000"/>
          </a:ln>
          <a:effectLst/>
        </p:spPr>
      </p:cxnSp>
      <p:cxnSp>
        <p:nvCxnSpPr>
          <p:cNvPr id="99" name="Conector Reto 12">
            <a:extLst>
              <a:ext uri="{FF2B5EF4-FFF2-40B4-BE49-F238E27FC236}">
                <a16:creationId xmlns:a16="http://schemas.microsoft.com/office/drawing/2014/main" id="{F90622A1-4820-4A25-B9E3-F5178B1C6705}"/>
              </a:ext>
            </a:extLst>
          </p:cNvPr>
          <p:cNvCxnSpPr/>
          <p:nvPr/>
        </p:nvCxnSpPr>
        <p:spPr>
          <a:xfrm>
            <a:off x="1046882" y="7194287"/>
            <a:ext cx="15280943" cy="0"/>
          </a:xfrm>
          <a:prstGeom prst="line">
            <a:avLst/>
          </a:prstGeom>
          <a:noFill/>
          <a:ln w="25400" cap="flat" cmpd="sng" algn="ctr">
            <a:solidFill>
              <a:schemeClr val="bg2">
                <a:lumMod val="50000"/>
              </a:schemeClr>
            </a:solidFill>
            <a:prstDash val="sysDot"/>
            <a:miter lim="800000"/>
          </a:ln>
          <a:effectLst/>
        </p:spPr>
      </p:cxnSp>
      <p:sp>
        <p:nvSpPr>
          <p:cNvPr id="100" name="Subtítulo 2">
            <a:extLst>
              <a:ext uri="{FF2B5EF4-FFF2-40B4-BE49-F238E27FC236}">
                <a16:creationId xmlns:a16="http://schemas.microsoft.com/office/drawing/2014/main" id="{38D75DDB-22BA-4CE6-BE9D-AE60B801430A}"/>
              </a:ext>
            </a:extLst>
          </p:cNvPr>
          <p:cNvSpPr txBox="1">
            <a:spLocks/>
          </p:cNvSpPr>
          <p:nvPr/>
        </p:nvSpPr>
        <p:spPr>
          <a:xfrm>
            <a:off x="10329240" y="4517192"/>
            <a:ext cx="2251385" cy="5329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Excessiva</a:t>
            </a:r>
          </a:p>
        </p:txBody>
      </p:sp>
      <p:sp>
        <p:nvSpPr>
          <p:cNvPr id="101" name="Subtítulo 2">
            <a:extLst>
              <a:ext uri="{FF2B5EF4-FFF2-40B4-BE49-F238E27FC236}">
                <a16:creationId xmlns:a16="http://schemas.microsoft.com/office/drawing/2014/main" id="{362D8C29-F6B4-43BD-A3AD-B49C02F3AB86}"/>
              </a:ext>
            </a:extLst>
          </p:cNvPr>
          <p:cNvSpPr txBox="1">
            <a:spLocks/>
          </p:cNvSpPr>
          <p:nvPr/>
        </p:nvSpPr>
        <p:spPr>
          <a:xfrm>
            <a:off x="13543394" y="4521915"/>
            <a:ext cx="2251385" cy="5419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Alto custo</a:t>
            </a:r>
          </a:p>
        </p:txBody>
      </p:sp>
      <p:sp>
        <p:nvSpPr>
          <p:cNvPr id="102" name="Subtítulo 2">
            <a:extLst>
              <a:ext uri="{FF2B5EF4-FFF2-40B4-BE49-F238E27FC236}">
                <a16:creationId xmlns:a16="http://schemas.microsoft.com/office/drawing/2014/main" id="{8A6CAF87-CB89-4721-8121-4855ABE59B21}"/>
              </a:ext>
            </a:extLst>
          </p:cNvPr>
          <p:cNvSpPr txBox="1">
            <a:spLocks/>
          </p:cNvSpPr>
          <p:nvPr/>
        </p:nvSpPr>
        <p:spPr>
          <a:xfrm>
            <a:off x="4387750" y="6328929"/>
            <a:ext cx="1708935" cy="7879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Informação e conscientização</a:t>
            </a:r>
          </a:p>
        </p:txBody>
      </p:sp>
      <p:sp>
        <p:nvSpPr>
          <p:cNvPr id="103" name="Subtítulo 2">
            <a:extLst>
              <a:ext uri="{FF2B5EF4-FFF2-40B4-BE49-F238E27FC236}">
                <a16:creationId xmlns:a16="http://schemas.microsoft.com/office/drawing/2014/main" id="{ADE085A0-BD6C-4942-A9F9-ECBA2E67D648}"/>
              </a:ext>
            </a:extLst>
          </p:cNvPr>
          <p:cNvSpPr txBox="1">
            <a:spLocks/>
          </p:cNvSpPr>
          <p:nvPr/>
        </p:nvSpPr>
        <p:spPr>
          <a:xfrm>
            <a:off x="7115083" y="6328929"/>
            <a:ext cx="2474185" cy="853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Mudança de hábitos e início da terapêutica</a:t>
            </a:r>
          </a:p>
        </p:txBody>
      </p:sp>
      <p:sp>
        <p:nvSpPr>
          <p:cNvPr id="104" name="Subtítulo 2">
            <a:extLst>
              <a:ext uri="{FF2B5EF4-FFF2-40B4-BE49-F238E27FC236}">
                <a16:creationId xmlns:a16="http://schemas.microsoft.com/office/drawing/2014/main" id="{A1B160A6-480D-4DDE-AEDD-2A4AFA59AF34}"/>
              </a:ext>
            </a:extLst>
          </p:cNvPr>
          <p:cNvSpPr txBox="1">
            <a:spLocks/>
          </p:cNvSpPr>
          <p:nvPr/>
        </p:nvSpPr>
        <p:spPr>
          <a:xfrm>
            <a:off x="10329238" y="6328929"/>
            <a:ext cx="2251385" cy="8536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Gerenciamento de doenças</a:t>
            </a:r>
          </a:p>
        </p:txBody>
      </p:sp>
      <p:sp>
        <p:nvSpPr>
          <p:cNvPr id="105" name="Subtítulo 2">
            <a:extLst>
              <a:ext uri="{FF2B5EF4-FFF2-40B4-BE49-F238E27FC236}">
                <a16:creationId xmlns:a16="http://schemas.microsoft.com/office/drawing/2014/main" id="{56E3E27F-708F-4736-9F1A-9F5A0FCC4964}"/>
              </a:ext>
            </a:extLst>
          </p:cNvPr>
          <p:cNvSpPr txBox="1">
            <a:spLocks/>
          </p:cNvSpPr>
          <p:nvPr/>
        </p:nvSpPr>
        <p:spPr>
          <a:xfrm>
            <a:off x="13543394" y="6328929"/>
            <a:ext cx="2251385" cy="8536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Acompanhamento personalizado</a:t>
            </a:r>
          </a:p>
        </p:txBody>
      </p:sp>
      <p:pic>
        <p:nvPicPr>
          <p:cNvPr id="106" name="Imagem 105">
            <a:extLst>
              <a:ext uri="{FF2B5EF4-FFF2-40B4-BE49-F238E27FC236}">
                <a16:creationId xmlns:a16="http://schemas.microsoft.com/office/drawing/2014/main" id="{8063AD99-B32F-40C6-B926-F9D0CF2EE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0745" y="3403914"/>
            <a:ext cx="335087" cy="770701"/>
          </a:xfrm>
          <a:prstGeom prst="rect">
            <a:avLst/>
          </a:prstGeom>
        </p:spPr>
      </p:pic>
      <p:sp>
        <p:nvSpPr>
          <p:cNvPr id="107" name="Subtítulo 2">
            <a:extLst>
              <a:ext uri="{FF2B5EF4-FFF2-40B4-BE49-F238E27FC236}">
                <a16:creationId xmlns:a16="http://schemas.microsoft.com/office/drawing/2014/main" id="{BC193FDE-7247-483E-A8E1-B7E64F9CF53B}"/>
              </a:ext>
            </a:extLst>
          </p:cNvPr>
          <p:cNvSpPr txBox="1">
            <a:spLocks/>
          </p:cNvSpPr>
          <p:nvPr/>
        </p:nvSpPr>
        <p:spPr>
          <a:xfrm>
            <a:off x="4619514" y="3469538"/>
            <a:ext cx="1243489" cy="3258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 Medium" pitchFamily="2" charset="0"/>
                <a:ea typeface="Atyp Display Medium" pitchFamily="2" charset="0"/>
              </a:rPr>
              <a:t>SAUDÁVEIS</a:t>
            </a:r>
          </a:p>
        </p:txBody>
      </p:sp>
      <p:sp>
        <p:nvSpPr>
          <p:cNvPr id="108" name="Subtítulo 2">
            <a:extLst>
              <a:ext uri="{FF2B5EF4-FFF2-40B4-BE49-F238E27FC236}">
                <a16:creationId xmlns:a16="http://schemas.microsoft.com/office/drawing/2014/main" id="{0AA3E01E-86C3-4DE1-BA41-966399B4FF08}"/>
              </a:ext>
            </a:extLst>
          </p:cNvPr>
          <p:cNvSpPr txBox="1">
            <a:spLocks/>
          </p:cNvSpPr>
          <p:nvPr/>
        </p:nvSpPr>
        <p:spPr>
          <a:xfrm>
            <a:off x="4387750" y="5215770"/>
            <a:ext cx="1764564" cy="7546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Mantê-los saudáveis</a:t>
            </a:r>
          </a:p>
        </p:txBody>
      </p:sp>
      <p:sp>
        <p:nvSpPr>
          <p:cNvPr id="109" name="Subtítulo 2">
            <a:extLst>
              <a:ext uri="{FF2B5EF4-FFF2-40B4-BE49-F238E27FC236}">
                <a16:creationId xmlns:a16="http://schemas.microsoft.com/office/drawing/2014/main" id="{D38EF1B4-1214-4BFC-AB42-4ECF820C0023}"/>
              </a:ext>
            </a:extLst>
          </p:cNvPr>
          <p:cNvSpPr txBox="1">
            <a:spLocks/>
          </p:cNvSpPr>
          <p:nvPr/>
        </p:nvSpPr>
        <p:spPr>
          <a:xfrm>
            <a:off x="2380393" y="3416846"/>
            <a:ext cx="1161011" cy="4695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pt-BR" sz="2000" b="1">
                <a:solidFill>
                  <a:schemeClr val="accent2"/>
                </a:solidFill>
                <a:latin typeface="Atyp Display Semibold" pitchFamily="2" charset="0"/>
                <a:ea typeface="Atyp Display Semibold" pitchFamily="2" charset="0"/>
              </a:rPr>
              <a:t>PERFIS</a:t>
            </a:r>
          </a:p>
        </p:txBody>
      </p:sp>
      <p:sp>
        <p:nvSpPr>
          <p:cNvPr id="110" name="Subtítulo 2">
            <a:extLst>
              <a:ext uri="{FF2B5EF4-FFF2-40B4-BE49-F238E27FC236}">
                <a16:creationId xmlns:a16="http://schemas.microsoft.com/office/drawing/2014/main" id="{690AD9D8-7522-4250-BAF5-47F3CC52884D}"/>
              </a:ext>
            </a:extLst>
          </p:cNvPr>
          <p:cNvSpPr txBox="1">
            <a:spLocks/>
          </p:cNvSpPr>
          <p:nvPr/>
        </p:nvSpPr>
        <p:spPr>
          <a:xfrm>
            <a:off x="7331641" y="3469537"/>
            <a:ext cx="1243489" cy="576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 Medium" pitchFamily="2" charset="0"/>
                <a:ea typeface="Atyp Display Medium" pitchFamily="2" charset="0"/>
              </a:rPr>
              <a:t>GRUPO DE RISCO</a:t>
            </a:r>
          </a:p>
        </p:txBody>
      </p:sp>
      <p:pic>
        <p:nvPicPr>
          <p:cNvPr id="111" name="Imagem 110">
            <a:extLst>
              <a:ext uri="{FF2B5EF4-FFF2-40B4-BE49-F238E27FC236}">
                <a16:creationId xmlns:a16="http://schemas.microsoft.com/office/drawing/2014/main" id="{5011B9F6-51AE-4D50-92A5-EA1C01C727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4635" y="3403915"/>
            <a:ext cx="340895" cy="784058"/>
          </a:xfrm>
          <a:prstGeom prst="rect">
            <a:avLst/>
          </a:prstGeom>
        </p:spPr>
      </p:pic>
      <p:sp>
        <p:nvSpPr>
          <p:cNvPr id="112" name="Subtítulo 2">
            <a:extLst>
              <a:ext uri="{FF2B5EF4-FFF2-40B4-BE49-F238E27FC236}">
                <a16:creationId xmlns:a16="http://schemas.microsoft.com/office/drawing/2014/main" id="{14F86C78-897A-4D8B-8D7F-1151892C9F7D}"/>
              </a:ext>
            </a:extLst>
          </p:cNvPr>
          <p:cNvSpPr txBox="1">
            <a:spLocks/>
          </p:cNvSpPr>
          <p:nvPr/>
        </p:nvSpPr>
        <p:spPr>
          <a:xfrm>
            <a:off x="10565514" y="3456372"/>
            <a:ext cx="1583660" cy="576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 Medium" pitchFamily="2" charset="0"/>
                <a:ea typeface="Atyp Display Medium" pitchFamily="2" charset="0"/>
              </a:rPr>
              <a:t>EM TRATAMENTO</a:t>
            </a:r>
          </a:p>
        </p:txBody>
      </p:sp>
      <p:pic>
        <p:nvPicPr>
          <p:cNvPr id="113" name="Imagem 112">
            <a:extLst>
              <a:ext uri="{FF2B5EF4-FFF2-40B4-BE49-F238E27FC236}">
                <a16:creationId xmlns:a16="http://schemas.microsoft.com/office/drawing/2014/main" id="{07F1DB06-4B4C-475D-BDA6-4B3A1B4033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58789" y="3403913"/>
            <a:ext cx="340896" cy="784060"/>
          </a:xfrm>
          <a:prstGeom prst="rect">
            <a:avLst/>
          </a:prstGeom>
        </p:spPr>
      </p:pic>
      <p:pic>
        <p:nvPicPr>
          <p:cNvPr id="114" name="Imagem 113">
            <a:extLst>
              <a:ext uri="{FF2B5EF4-FFF2-40B4-BE49-F238E27FC236}">
                <a16:creationId xmlns:a16="http://schemas.microsoft.com/office/drawing/2014/main" id="{8E6302C2-85B5-424E-9316-5F8CA85FFE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72946" y="3389725"/>
            <a:ext cx="340894" cy="784058"/>
          </a:xfrm>
          <a:prstGeom prst="rect">
            <a:avLst/>
          </a:prstGeom>
        </p:spPr>
      </p:pic>
      <p:sp>
        <p:nvSpPr>
          <p:cNvPr id="115" name="Subtítulo 2">
            <a:extLst>
              <a:ext uri="{FF2B5EF4-FFF2-40B4-BE49-F238E27FC236}">
                <a16:creationId xmlns:a16="http://schemas.microsoft.com/office/drawing/2014/main" id="{206C6649-8C48-40D1-B95A-5FEAEBF9CC49}"/>
              </a:ext>
            </a:extLst>
          </p:cNvPr>
          <p:cNvSpPr txBox="1">
            <a:spLocks/>
          </p:cNvSpPr>
          <p:nvPr/>
        </p:nvSpPr>
        <p:spPr>
          <a:xfrm>
            <a:off x="13764771" y="3456372"/>
            <a:ext cx="1764398" cy="576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 Medium" pitchFamily="2" charset="0"/>
                <a:ea typeface="Atyp Display Medium" pitchFamily="2" charset="0"/>
              </a:rPr>
              <a:t>ALTA COMPLEXIDADE</a:t>
            </a:r>
          </a:p>
        </p:txBody>
      </p:sp>
      <p:sp>
        <p:nvSpPr>
          <p:cNvPr id="116" name="Subtítulo 2">
            <a:extLst>
              <a:ext uri="{FF2B5EF4-FFF2-40B4-BE49-F238E27FC236}">
                <a16:creationId xmlns:a16="http://schemas.microsoft.com/office/drawing/2014/main" id="{E9A6AAF8-2C39-486C-AEFB-5483A17DE3A8}"/>
              </a:ext>
            </a:extLst>
          </p:cNvPr>
          <p:cNvSpPr txBox="1">
            <a:spLocks/>
          </p:cNvSpPr>
          <p:nvPr/>
        </p:nvSpPr>
        <p:spPr>
          <a:xfrm>
            <a:off x="7115082" y="5215770"/>
            <a:ext cx="2251385" cy="827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Diagnóstico precoce, mitigar os riscos e elevar a saúde</a:t>
            </a:r>
          </a:p>
        </p:txBody>
      </p:sp>
      <p:sp>
        <p:nvSpPr>
          <p:cNvPr id="117" name="Subtítulo 2">
            <a:extLst>
              <a:ext uri="{FF2B5EF4-FFF2-40B4-BE49-F238E27FC236}">
                <a16:creationId xmlns:a16="http://schemas.microsoft.com/office/drawing/2014/main" id="{99FF7D80-37D7-4904-BBF9-D98F1B3631AC}"/>
              </a:ext>
            </a:extLst>
          </p:cNvPr>
          <p:cNvSpPr txBox="1">
            <a:spLocks/>
          </p:cNvSpPr>
          <p:nvPr/>
        </p:nvSpPr>
        <p:spPr>
          <a:xfrm>
            <a:off x="10329235" y="5215770"/>
            <a:ext cx="2251385" cy="8162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Evitar complicações da doença instalada</a:t>
            </a:r>
          </a:p>
        </p:txBody>
      </p:sp>
      <p:sp>
        <p:nvSpPr>
          <p:cNvPr id="118" name="Subtítulo 2">
            <a:extLst>
              <a:ext uri="{FF2B5EF4-FFF2-40B4-BE49-F238E27FC236}">
                <a16:creationId xmlns:a16="http://schemas.microsoft.com/office/drawing/2014/main" id="{4CF4C380-442B-4B7C-96F1-7A30D46918DB}"/>
              </a:ext>
            </a:extLst>
          </p:cNvPr>
          <p:cNvSpPr txBox="1">
            <a:spLocks/>
          </p:cNvSpPr>
          <p:nvPr/>
        </p:nvSpPr>
        <p:spPr>
          <a:xfrm>
            <a:off x="13547601" y="5215770"/>
            <a:ext cx="2251385" cy="8162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728">
                <a:solidFill>
                  <a:schemeClr val="bg2">
                    <a:lumMod val="50000"/>
                  </a:schemeClr>
                </a:solidFill>
                <a:latin typeface="Atyp Display" pitchFamily="2" charset="0"/>
                <a:ea typeface="Atyp Display" pitchFamily="2" charset="0"/>
              </a:rPr>
              <a:t>Suporte médico</a:t>
            </a:r>
          </a:p>
        </p:txBody>
      </p:sp>
      <p:sp>
        <p:nvSpPr>
          <p:cNvPr id="119" name="Subtítulo 2">
            <a:extLst>
              <a:ext uri="{FF2B5EF4-FFF2-40B4-BE49-F238E27FC236}">
                <a16:creationId xmlns:a16="http://schemas.microsoft.com/office/drawing/2014/main" id="{80ADAEE7-81C6-4945-9BEB-6782CD3608DC}"/>
              </a:ext>
            </a:extLst>
          </p:cNvPr>
          <p:cNvSpPr txBox="1">
            <a:spLocks/>
          </p:cNvSpPr>
          <p:nvPr/>
        </p:nvSpPr>
        <p:spPr>
          <a:xfrm>
            <a:off x="1146371" y="6333108"/>
            <a:ext cx="2395033" cy="583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pt-BR" sz="2000" b="1">
                <a:solidFill>
                  <a:schemeClr val="accent2"/>
                </a:solidFill>
                <a:latin typeface="Atyp Display Semibold" pitchFamily="2" charset="0"/>
                <a:ea typeface="Atyp Display Semibold" pitchFamily="2" charset="0"/>
              </a:rPr>
              <a:t>TIPO DE AÇÃO</a:t>
            </a:r>
          </a:p>
        </p:txBody>
      </p:sp>
      <p:sp>
        <p:nvSpPr>
          <p:cNvPr id="120" name="Subtítulo 2">
            <a:extLst>
              <a:ext uri="{FF2B5EF4-FFF2-40B4-BE49-F238E27FC236}">
                <a16:creationId xmlns:a16="http://schemas.microsoft.com/office/drawing/2014/main" id="{D6F77F8D-8533-49D8-B247-EAFBB04BBBD3}"/>
              </a:ext>
            </a:extLst>
          </p:cNvPr>
          <p:cNvSpPr txBox="1">
            <a:spLocks/>
          </p:cNvSpPr>
          <p:nvPr/>
        </p:nvSpPr>
        <p:spPr>
          <a:xfrm>
            <a:off x="1182876" y="4386349"/>
            <a:ext cx="2395033" cy="7111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pt-BR" sz="2000" b="1">
                <a:solidFill>
                  <a:schemeClr val="accent2"/>
                </a:solidFill>
                <a:latin typeface="Atyp Display Semibold" pitchFamily="2" charset="0"/>
                <a:ea typeface="Atyp Display Semibold" pitchFamily="2" charset="0"/>
              </a:rPr>
              <a:t>NÍVEL DE UTILIZAÇÃO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A639620-46D7-D967-6E95-8C7CE176186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7241" y="565162"/>
            <a:ext cx="1491019" cy="55027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C38C0D-1905-E247-1441-65C0357494AE}"/>
              </a:ext>
            </a:extLst>
          </p:cNvPr>
          <p:cNvSpPr txBox="1"/>
          <p:nvPr/>
        </p:nvSpPr>
        <p:spPr>
          <a:xfrm>
            <a:off x="957264" y="565162"/>
            <a:ext cx="11463336" cy="101449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pt-BR" sz="5400" spc="600">
                <a:solidFill>
                  <a:schemeClr val="accent2"/>
                </a:solidFill>
                <a:latin typeface="Gobold Extra2" panose="02000500000000000000" pitchFamily="2" charset="0"/>
                <a:ea typeface="Atyp Display" pitchFamily="2" charset="0"/>
              </a:rPr>
              <a:t>CONTROLE DE RISCO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B1C537E-0495-7E0E-61A6-6B4C7AAAD458}"/>
              </a:ext>
            </a:extLst>
          </p:cNvPr>
          <p:cNvSpPr txBox="1">
            <a:spLocks/>
          </p:cNvSpPr>
          <p:nvPr/>
        </p:nvSpPr>
        <p:spPr>
          <a:xfrm>
            <a:off x="957265" y="1819716"/>
            <a:ext cx="8234862" cy="3679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316553">
              <a:spcBef>
                <a:spcPts val="1440"/>
              </a:spcBef>
              <a:defRPr/>
            </a:pPr>
            <a:r>
              <a:rPr lang="pt-BR" sz="2800">
                <a:solidFill>
                  <a:schemeClr val="accent2"/>
                </a:solidFill>
                <a:latin typeface="Gobold Extra2" panose="02000500000000000000" pitchFamily="2" charset="0"/>
                <a:ea typeface="Atyp Display" pitchFamily="2" charset="0"/>
              </a:rPr>
              <a:t>MAPEAMENTO DOS RISCOS</a:t>
            </a:r>
          </a:p>
        </p:txBody>
      </p:sp>
    </p:spTree>
    <p:extLst>
      <p:ext uri="{BB962C8B-B14F-4D97-AF65-F5344CB8AC3E}">
        <p14:creationId xmlns:p14="http://schemas.microsoft.com/office/powerpoint/2010/main" val="1287082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600151" y="854338"/>
            <a:ext cx="16357448" cy="1099443"/>
          </a:xfrm>
          <a:prstGeom prst="rect">
            <a:avLst/>
          </a:prstGeom>
        </p:spPr>
        <p:txBody>
          <a:bodyPr spcFirstLastPara="1" wrap="square" lIns="175513" tIns="175513" rIns="175513" bIns="175513" anchor="t" anchorCtr="0">
            <a:normAutofit fontScale="90000"/>
          </a:bodyPr>
          <a:lstStyle/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600151" y="2212468"/>
            <a:ext cx="16357448" cy="6558644"/>
          </a:xfrm>
          <a:prstGeom prst="rect">
            <a:avLst/>
          </a:prstGeom>
        </p:spPr>
        <p:txBody>
          <a:bodyPr spcFirstLastPara="1" wrap="square" lIns="175513" tIns="175513" rIns="175513" bIns="175513" anchor="t" anchorCtr="0">
            <a:normAutofit/>
          </a:bodyPr>
          <a:lstStyle/>
          <a:p>
            <a:pPr marL="0" indent="0">
              <a:spcAft>
                <a:spcPts val="2304"/>
              </a:spcAft>
              <a:buNone/>
            </a:pPr>
            <a:endParaRPr/>
          </a:p>
        </p:txBody>
      </p:sp>
      <p:pic>
        <p:nvPicPr>
          <p:cNvPr id="140" name="Google Shape;140;p25" title="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fadd8a-64de-4497-9d6c-e7b64e5c8f6e" xsi:nil="true"/>
    <lcf76f155ced4ddcb4097134ff3c332f xmlns="fd24a280-74f3-47a6-9e70-c2d95067e880">
      <Terms xmlns="http://schemas.microsoft.com/office/infopath/2007/PartnerControls"/>
    </lcf76f155ced4ddcb4097134ff3c332f>
    <_Flow_SignoffStatus xmlns="fd24a280-74f3-47a6-9e70-c2d95067e8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9007721FAD6842ADF2A47349318758" ma:contentTypeVersion="19" ma:contentTypeDescription="Crie um novo documento." ma:contentTypeScope="" ma:versionID="c43983c2e6eee3ab8dbb069dd9c3ef0a">
  <xsd:schema xmlns:xsd="http://www.w3.org/2001/XMLSchema" xmlns:xs="http://www.w3.org/2001/XMLSchema" xmlns:p="http://schemas.microsoft.com/office/2006/metadata/properties" xmlns:ns2="fd24a280-74f3-47a6-9e70-c2d95067e880" xmlns:ns3="84fadd8a-64de-4497-9d6c-e7b64e5c8f6e" targetNamespace="http://schemas.microsoft.com/office/2006/metadata/properties" ma:root="true" ma:fieldsID="cb7fb18389008972fed217ef0c18dc80" ns2:_="" ns3:_="">
    <xsd:import namespace="fd24a280-74f3-47a6-9e70-c2d95067e880"/>
    <xsd:import namespace="84fadd8a-64de-4497-9d6c-e7b64e5c8f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SearchProperties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24a280-74f3-47a6-9e70-c2d95067e8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801fd892-d93e-4a1b-ac0b-3fb0c8fb30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3" nillable="true" ma:displayName="Status de liberação" ma:internalName="Status_x0020_de_x0020_libera_x00e7__x00e3_o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add8a-64de-4497-9d6c-e7b64e5c8f6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676455c-8126-46eb-a2b6-dac90eaebfc2}" ma:internalName="TaxCatchAll" ma:showField="CatchAllData" ma:web="84fadd8a-64de-4497-9d6c-e7b64e5c8f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DCBB8B-DC41-43A6-A406-D4F3C520F3C6}">
  <ds:schemaRefs>
    <ds:schemaRef ds:uri="84fadd8a-64de-4497-9d6c-e7b64e5c8f6e"/>
    <ds:schemaRef ds:uri="fd24a280-74f3-47a6-9e70-c2d95067e88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AD6DCCA-011A-42EB-B126-F59F4E997F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D80B30-C9B0-428D-826F-806FA174FD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24a280-74f3-47a6-9e70-c2d95067e880"/>
    <ds:schemaRef ds:uri="84fadd8a-64de-4497-9d6c-e7b64e5c8f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3692</Words>
  <Application>Microsoft Office PowerPoint</Application>
  <PresentationFormat>Personalizar</PresentationFormat>
  <Paragraphs>1283</Paragraphs>
  <Slides>32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8" baseType="lpstr">
      <vt:lpstr>Gobold Extra2</vt:lpstr>
      <vt:lpstr>ATYP DISPLAY LIGHT</vt:lpstr>
      <vt:lpstr>Arial</vt:lpstr>
      <vt:lpstr>Poppins Medium</vt:lpstr>
      <vt:lpstr>Mont Bold</vt:lpstr>
      <vt:lpstr>ATYP DISPLAY MEDIUM</vt:lpstr>
      <vt:lpstr>Calibri</vt:lpstr>
      <vt:lpstr>Aptos</vt:lpstr>
      <vt:lpstr>Atyp Display</vt:lpstr>
      <vt:lpstr>Webdings</vt:lpstr>
      <vt:lpstr>Calibri Light</vt:lpstr>
      <vt:lpstr>ATYP DISPLAY MEDIUM</vt:lpstr>
      <vt:lpstr>Atyp Display Bold</vt:lpstr>
      <vt:lpstr>Mont</vt:lpstr>
      <vt:lpstr>ATYP DISPLAY SEMIBOLD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SOAP para bancos</dc:title>
  <dc:subject>Template SOAP para bancos</dc:subject>
  <dc:creator>Anderson</dc:creator>
  <cp:keywords>anderson.garcia2@gmail.com</cp:keywords>
  <cp:lastModifiedBy>Ariane Silva</cp:lastModifiedBy>
  <cp:revision>30</cp:revision>
  <dcterms:created xsi:type="dcterms:W3CDTF">2018-03-05T14:12:30Z</dcterms:created>
  <dcterms:modified xsi:type="dcterms:W3CDTF">2026-07-24T15:32:06Z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0x0101003A9007721FAD6842ADF2A47349318758</vt:lpwstr>
  </property>
  <property fmtid="{D5CDD505-2E9C-101B-9397-08002B2CF9AE}" pid="3" name="MediaServiceImageTags">
    <vt:lpwstr/>
  </property>
</Properties>
</file>